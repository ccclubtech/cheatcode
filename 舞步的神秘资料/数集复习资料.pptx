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1734" r:id="rId2"/>
    <p:sldId id="1749" r:id="rId3"/>
    <p:sldId id="1735" r:id="rId4"/>
    <p:sldId id="1750" r:id="rId5"/>
    <p:sldId id="1736" r:id="rId6"/>
    <p:sldId id="1737" r:id="rId7"/>
    <p:sldId id="1752" r:id="rId8"/>
    <p:sldId id="1751" r:id="rId9"/>
    <p:sldId id="1753" r:id="rId10"/>
    <p:sldId id="1754" r:id="rId11"/>
    <p:sldId id="1738" r:id="rId12"/>
    <p:sldId id="1739" r:id="rId13"/>
    <p:sldId id="1740" r:id="rId14"/>
    <p:sldId id="1755" r:id="rId15"/>
    <p:sldId id="1743" r:id="rId16"/>
    <p:sldId id="1748" r:id="rId17"/>
    <p:sldId id="1741" r:id="rId18"/>
    <p:sldId id="1742" r:id="rId19"/>
    <p:sldId id="1760" r:id="rId20"/>
    <p:sldId id="1761" r:id="rId21"/>
    <p:sldId id="1762" r:id="rId22"/>
    <p:sldId id="1763" r:id="rId23"/>
    <p:sldId id="1744" r:id="rId24"/>
    <p:sldId id="1756" r:id="rId25"/>
    <p:sldId id="1757" r:id="rId26"/>
    <p:sldId id="1758" r:id="rId27"/>
    <p:sldId id="1747" r:id="rId28"/>
    <p:sldId id="1745" r:id="rId29"/>
    <p:sldId id="1746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4193"/>
    <a:srgbClr val="FFFFFF"/>
    <a:srgbClr val="FFC000"/>
    <a:srgbClr val="006DB8"/>
    <a:srgbClr val="20408F"/>
    <a:srgbClr val="00579A"/>
    <a:srgbClr val="FFBF43"/>
    <a:srgbClr val="215589"/>
    <a:srgbClr val="8EBFF6"/>
    <a:srgbClr val="7BB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5" autoAdjust="0"/>
  </p:normalViewPr>
  <p:slideViewPr>
    <p:cSldViewPr snapToGrid="0">
      <p:cViewPr varScale="1">
        <p:scale>
          <a:sx n="150" d="100"/>
          <a:sy n="150" d="100"/>
        </p:scale>
        <p:origin x="21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FF44C-B42B-4B57-A3A9-D3E62F129DEB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172AD6-3950-4C5B-A664-DDF63E495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369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63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47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921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030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36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8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817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55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982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23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5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7AD75-8F32-4E7E-A048-F032AAF50F26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7633F-0CC8-4587-984D-6C817E51F13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AA88C2F-382C-BC80-C1F6-1450E7ADB151}"/>
              </a:ext>
            </a:extLst>
          </p:cNvPr>
          <p:cNvGrpSpPr/>
          <p:nvPr userDrawn="1"/>
        </p:nvGrpSpPr>
        <p:grpSpPr>
          <a:xfrm>
            <a:off x="1" y="6310312"/>
            <a:ext cx="9144000" cy="547688"/>
            <a:chOff x="695325" y="6337300"/>
            <a:chExt cx="10801350" cy="547688"/>
          </a:xfrm>
          <a:solidFill>
            <a:srgbClr val="224193"/>
          </a:solidFill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18D3AB0-1514-DA66-A22E-CB9A4C763DB4}"/>
                </a:ext>
              </a:extLst>
            </p:cNvPr>
            <p:cNvSpPr/>
            <p:nvPr/>
          </p:nvSpPr>
          <p:spPr>
            <a:xfrm>
              <a:off x="695325" y="6337300"/>
              <a:ext cx="10801350" cy="5476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1800" dirty="0">
                <a:solidFill>
                  <a:srgbClr val="FFC000"/>
                </a:solidFill>
              </a:endParaRPr>
            </a:p>
          </p:txBody>
        </p:sp>
        <p:pic>
          <p:nvPicPr>
            <p:cNvPr id="9" name="图片 2" descr="16">
              <a:extLst>
                <a:ext uri="{FF2B5EF4-FFF2-40B4-BE49-F238E27FC236}">
                  <a16:creationId xmlns:a16="http://schemas.microsoft.com/office/drawing/2014/main" id="{7CAE9B49-B6B6-5837-0A6B-EB2194C0ED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7313" y="6435726"/>
              <a:ext cx="1922462" cy="352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6786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198783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第一章 引论 </a:t>
            </a:r>
            <a:r>
              <a:rPr lang="en-US" altLang="zh-CN" dirty="0"/>
              <a:t>&amp; </a:t>
            </a:r>
            <a:r>
              <a:rPr lang="zh-CN" altLang="en-US" dirty="0"/>
              <a:t>第二章 制造工艺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344556" y="1212574"/>
            <a:ext cx="8454887" cy="3789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第一章：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数字电路设计进展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数字电路设计中亟待解决的稳定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如何衡量设计质量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第二章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制造工艺概述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设计规则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IC</a:t>
            </a:r>
            <a:r>
              <a:rPr lang="zh-CN" altLang="en-US" dirty="0"/>
              <a:t>封装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数字电路工艺的未来趋势</a:t>
            </a:r>
          </a:p>
        </p:txBody>
      </p:sp>
    </p:spTree>
    <p:extLst>
      <p:ext uri="{BB962C8B-B14F-4D97-AF65-F5344CB8AC3E}">
        <p14:creationId xmlns:p14="http://schemas.microsoft.com/office/powerpoint/2010/main" val="399199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第一章 引论 </a:t>
            </a:r>
            <a:r>
              <a:rPr lang="en-US" altLang="zh-CN" dirty="0"/>
              <a:t>&amp; </a:t>
            </a:r>
            <a:r>
              <a:rPr lang="zh-CN" altLang="en-US" dirty="0"/>
              <a:t>第二章 制造工艺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470991"/>
            <a:ext cx="8739809" cy="2231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数字设计的质量评价：成本、功能和稳定性、性能（</a:t>
            </a:r>
            <a:r>
              <a:rPr lang="zh-CN" altLang="en-US" dirty="0">
                <a:solidFill>
                  <a:srgbClr val="C00000"/>
                </a:solidFill>
              </a:rPr>
              <a:t>速度、功耗、面积</a:t>
            </a:r>
            <a:r>
              <a:rPr lang="zh-CN" altLang="en-US" dirty="0"/>
              <a:t>）、可靠性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数字集成电路的多层次设计过程：</a:t>
            </a:r>
            <a:r>
              <a:rPr lang="zh-CN" altLang="en-US" dirty="0">
                <a:solidFill>
                  <a:srgbClr val="C00000"/>
                </a:solidFill>
              </a:rPr>
              <a:t>系统、芯片、模块和逻辑门</a:t>
            </a:r>
            <a:endParaRPr lang="en-US" altLang="zh-CN" dirty="0">
              <a:solidFill>
                <a:srgbClr val="C00000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芯片封装的主要作用是提供：</a:t>
            </a:r>
            <a:r>
              <a:rPr lang="zh-CN" altLang="en-US" dirty="0">
                <a:solidFill>
                  <a:srgbClr val="C00000"/>
                </a:solidFill>
              </a:rPr>
              <a:t>电气要求，机械特性和热特性等</a:t>
            </a:r>
            <a:endParaRPr lang="en-US" altLang="zh-CN" dirty="0">
              <a:solidFill>
                <a:srgbClr val="C00000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CMOS</a:t>
            </a:r>
            <a:r>
              <a:rPr lang="zh-CN" altLang="en-US" dirty="0"/>
              <a:t>集成电路的生产工艺：</a:t>
            </a:r>
            <a:r>
              <a:rPr lang="zh-CN" altLang="en-US" dirty="0">
                <a:solidFill>
                  <a:srgbClr val="C00000"/>
                </a:solidFill>
              </a:rPr>
              <a:t>光刻、扩散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离子注入、沉积、刻蚀、平坦化等</a:t>
            </a:r>
          </a:p>
        </p:txBody>
      </p:sp>
    </p:spTree>
    <p:extLst>
      <p:ext uri="{BB962C8B-B14F-4D97-AF65-F5344CB8AC3E}">
        <p14:creationId xmlns:p14="http://schemas.microsoft.com/office/powerpoint/2010/main" val="349991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第一章 引论 </a:t>
            </a:r>
            <a:r>
              <a:rPr lang="en-US" altLang="zh-CN" dirty="0"/>
              <a:t>&amp; </a:t>
            </a:r>
            <a:r>
              <a:rPr lang="zh-CN" altLang="en-US" dirty="0"/>
              <a:t>第二章 制造工艺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470991"/>
            <a:ext cx="8739809" cy="569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集成电路的成本构成以及影响成本的因素：</a:t>
            </a:r>
            <a:r>
              <a:rPr lang="zh-CN" altLang="en-US" dirty="0">
                <a:solidFill>
                  <a:srgbClr val="C00000"/>
                </a:solidFill>
              </a:rPr>
              <a:t>固定成本和可变成本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74B649-9B6C-06F4-8FCA-A0EB8A38A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80" y="2782508"/>
            <a:ext cx="754380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7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第一章 引论 </a:t>
            </a:r>
            <a:r>
              <a:rPr lang="en-US" altLang="zh-CN" dirty="0"/>
              <a:t>&amp; </a:t>
            </a:r>
            <a:r>
              <a:rPr lang="zh-CN" altLang="en-US" dirty="0"/>
              <a:t>第二章 制造工艺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204291"/>
            <a:ext cx="8739809" cy="5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CMOS</a:t>
            </a:r>
            <a:r>
              <a:rPr lang="zh-CN" altLang="en-US" dirty="0"/>
              <a:t>反相器链解释反相器</a:t>
            </a:r>
            <a:r>
              <a:rPr lang="zh-CN" altLang="en-US" dirty="0">
                <a:solidFill>
                  <a:srgbClr val="C00000"/>
                </a:solidFill>
              </a:rPr>
              <a:t>具有再生性的条件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6E62E-12C7-7E13-C954-52D91D61BEA6}"/>
              </a:ext>
            </a:extLst>
          </p:cNvPr>
          <p:cNvSpPr txBox="1"/>
          <p:nvPr/>
        </p:nvSpPr>
        <p:spPr>
          <a:xfrm>
            <a:off x="202095" y="1934617"/>
            <a:ext cx="8590722" cy="3789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CMOS</a:t>
            </a:r>
            <a:r>
              <a:rPr lang="zh-CN" altLang="en-US" dirty="0"/>
              <a:t>反相器链中， “再生性”（</a:t>
            </a:r>
            <a:r>
              <a:rPr lang="en-US" altLang="zh-CN" dirty="0"/>
              <a:t>Regenerative Property</a:t>
            </a:r>
            <a:r>
              <a:rPr lang="zh-CN" altLang="en-US" dirty="0"/>
              <a:t>）是指：输入信号即使受到一定干扰，在经过多个反相器级联后，仍能逐渐恢复为清晰、稳定的逻辑电平（高电平或低电平）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增益大于</a:t>
            </a:r>
            <a:r>
              <a:rPr lang="en-US" altLang="zh-CN" dirty="0"/>
              <a:t>1</a:t>
            </a:r>
            <a:r>
              <a:rPr lang="zh-CN" altLang="en-US" dirty="0"/>
              <a:t>：在输入处于切换区（大约在</a:t>
            </a:r>
            <a:r>
              <a:rPr lang="en-US" altLang="zh-CN" dirty="0"/>
              <a:t>VDD/2</a:t>
            </a:r>
            <a:r>
              <a:rPr lang="zh-CN" altLang="en-US" dirty="0"/>
              <a:t>附近）时，反相器的增益（</a:t>
            </a:r>
            <a:r>
              <a:rPr lang="en-US" altLang="zh-CN" dirty="0"/>
              <a:t>gain</a:t>
            </a:r>
            <a:r>
              <a:rPr lang="zh-CN" altLang="en-US" dirty="0"/>
              <a:t>）</a:t>
            </a:r>
            <a:r>
              <a:rPr lang="en-US" altLang="zh-CN" dirty="0"/>
              <a:t>&gt; 1</a:t>
            </a:r>
            <a:r>
              <a:rPr lang="zh-CN" altLang="en-US" dirty="0"/>
              <a:t>：∣𝑑𝑉</a:t>
            </a:r>
            <a:r>
              <a:rPr lang="en-US" altLang="zh-CN" baseline="-25000" dirty="0"/>
              <a:t>out</a:t>
            </a:r>
            <a:r>
              <a:rPr lang="en-US" altLang="zh-CN" dirty="0"/>
              <a:t>/</a:t>
            </a:r>
            <a:r>
              <a:rPr lang="zh-CN" altLang="en-US" dirty="0"/>
              <a:t>𝑑𝑉</a:t>
            </a:r>
            <a:r>
              <a:rPr lang="en-US" altLang="zh-CN" baseline="-25000" dirty="0"/>
              <a:t>in</a:t>
            </a:r>
            <a:r>
              <a:rPr lang="en-US" altLang="zh-CN" dirty="0"/>
              <a:t>∣&gt;1​ </a:t>
            </a:r>
            <a:r>
              <a:rPr lang="zh-CN" altLang="en-US" dirty="0"/>
              <a:t>这使得输入端的小扰动会在输出端被放大，有助于信号快速向高或低逻辑收敛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存在正反馈路径（在逻辑链意义上）：虽然每个反相器本身是没有正反馈的，但反相器链中偶数个反相器形成了等效的正反馈结构。若第一个反相器输出影响最终反馈回自身，则可以构成“再生”环路</a:t>
            </a:r>
          </a:p>
        </p:txBody>
      </p:sp>
    </p:spTree>
    <p:extLst>
      <p:ext uri="{BB962C8B-B14F-4D97-AF65-F5344CB8AC3E}">
        <p14:creationId xmlns:p14="http://schemas.microsoft.com/office/powerpoint/2010/main" val="3553397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198783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第三章 器件</a:t>
            </a:r>
            <a:r>
              <a:rPr lang="en-US" altLang="zh-CN" dirty="0"/>
              <a:t>&amp; </a:t>
            </a:r>
            <a:r>
              <a:rPr lang="zh-CN" altLang="en-US" dirty="0"/>
              <a:t>第四章 导线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344556" y="1146313"/>
            <a:ext cx="8454887" cy="4204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第三章：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定性了解</a:t>
            </a:r>
            <a:r>
              <a:rPr lang="en-US" altLang="zh-CN" dirty="0"/>
              <a:t>MOS</a:t>
            </a:r>
            <a:r>
              <a:rPr lang="zh-CN" altLang="en-US" dirty="0"/>
              <a:t>器件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用于手工分析的简单器件模型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用于</a:t>
            </a:r>
            <a:r>
              <a:rPr lang="en-US" altLang="zh-CN" dirty="0"/>
              <a:t>SPIC</a:t>
            </a:r>
            <a:r>
              <a:rPr lang="zh-CN" altLang="en-US" dirty="0"/>
              <a:t>模拟的细节器件模型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工艺偏差的影响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第四章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确定并定量化互连参数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介绍互连线的电路模型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导线的</a:t>
            </a:r>
            <a:r>
              <a:rPr lang="en-US" altLang="zh-CN" dirty="0"/>
              <a:t>SPICE</a:t>
            </a:r>
            <a:r>
              <a:rPr lang="zh-CN" altLang="en-US" dirty="0"/>
              <a:t>细节模型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工艺尺寸缩小及它对互连的影响</a:t>
            </a:r>
          </a:p>
        </p:txBody>
      </p:sp>
    </p:spTree>
    <p:extLst>
      <p:ext uri="{BB962C8B-B14F-4D97-AF65-F5344CB8AC3E}">
        <p14:creationId xmlns:p14="http://schemas.microsoft.com/office/powerpoint/2010/main" val="928586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第三章 器件</a:t>
            </a:r>
            <a:r>
              <a:rPr lang="en-US" altLang="zh-CN" dirty="0"/>
              <a:t>&amp; </a:t>
            </a:r>
            <a:r>
              <a:rPr lang="zh-CN" altLang="en-US" dirty="0"/>
              <a:t>第四章 导线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677477"/>
            <a:ext cx="8739809" cy="1677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在深亚微米工艺中导线常被建模：</a:t>
            </a:r>
            <a:r>
              <a:rPr lang="zh-CN" altLang="en-US" dirty="0">
                <a:solidFill>
                  <a:srgbClr val="C00000"/>
                </a:solidFill>
              </a:rPr>
              <a:t>分布式的电阻电容网络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集成电路中用于晶体管互联的金属导线通常会引入</a:t>
            </a:r>
            <a:r>
              <a:rPr lang="zh-CN" altLang="en-US" dirty="0">
                <a:solidFill>
                  <a:srgbClr val="C00000"/>
                </a:solidFill>
              </a:rPr>
              <a:t>电阻，电感和 电容等</a:t>
            </a:r>
            <a:r>
              <a:rPr lang="zh-CN" altLang="en-US" dirty="0"/>
              <a:t>形式的寄生参数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9168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第三章 器件</a:t>
            </a:r>
            <a:r>
              <a:rPr lang="en-US" altLang="zh-CN" dirty="0"/>
              <a:t>&amp; </a:t>
            </a:r>
            <a:r>
              <a:rPr lang="zh-CN" altLang="en-US" dirty="0"/>
              <a:t>第四章 导线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68579" y="1343274"/>
            <a:ext cx="8835225" cy="569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在</a:t>
            </a:r>
            <a:r>
              <a:rPr lang="en-US" altLang="zh-CN" dirty="0"/>
              <a:t>CMOS</a:t>
            </a:r>
            <a:r>
              <a:rPr lang="zh-CN" altLang="en-US" dirty="0"/>
              <a:t>工艺中，一般可以通过硅化物工艺来提高器件的性能，</a:t>
            </a:r>
            <a:r>
              <a:rPr lang="zh-CN" altLang="en-US" dirty="0">
                <a:solidFill>
                  <a:srgbClr val="C00000"/>
                </a:solidFill>
              </a:rPr>
              <a:t>硅化物的工艺及作用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04F997-4CEA-450B-4EEB-A8E9223D5A85}"/>
              </a:ext>
            </a:extLst>
          </p:cNvPr>
          <p:cNvSpPr txBox="1"/>
          <p:nvPr/>
        </p:nvSpPr>
        <p:spPr>
          <a:xfrm>
            <a:off x="68580" y="2197261"/>
            <a:ext cx="8835225" cy="27853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/>
            </a:lvl1pPr>
          </a:lstStyle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CMOS</a:t>
            </a:r>
            <a:r>
              <a:rPr lang="zh-CN" altLang="en-US" dirty="0"/>
              <a:t>工艺中，硅化物工艺是一种在晶体管源极、漏极和栅极区域表面形成金属硅化物的关键工艺，用于</a:t>
            </a:r>
            <a:r>
              <a:rPr lang="zh-CN" altLang="en-US" dirty="0">
                <a:solidFill>
                  <a:srgbClr val="C00000"/>
                </a:solidFill>
              </a:rPr>
              <a:t>降低接触电阻和串联电阻，提高器件速度性能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硅化物工艺流程：</a:t>
            </a:r>
            <a:r>
              <a:rPr lang="zh-CN" altLang="en-US" dirty="0">
                <a:solidFill>
                  <a:srgbClr val="C00000"/>
                </a:solidFill>
              </a:rPr>
              <a:t>金属沉积</a:t>
            </a:r>
            <a:r>
              <a:rPr lang="zh-CN" altLang="en-US" dirty="0"/>
              <a:t>，在晶圆表面沉积一层金属；</a:t>
            </a:r>
            <a:r>
              <a:rPr lang="zh-CN" altLang="en-US" dirty="0">
                <a:solidFill>
                  <a:srgbClr val="C00000"/>
                </a:solidFill>
              </a:rPr>
              <a:t>热退火反应</a:t>
            </a:r>
            <a:r>
              <a:rPr lang="zh-CN" altLang="en-US" dirty="0"/>
              <a:t>，加热使金属与接触区域的硅发生反应，生成低电阻金属硅化物；</a:t>
            </a:r>
            <a:r>
              <a:rPr lang="zh-CN" altLang="en-US" dirty="0">
                <a:solidFill>
                  <a:srgbClr val="C00000"/>
                </a:solidFill>
              </a:rPr>
              <a:t>去除未反应金属</a:t>
            </a:r>
            <a:r>
              <a:rPr lang="zh-CN" altLang="en-US" dirty="0"/>
              <a:t>，利用选择性刻蚀，仅保留已形成的硅化物层；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1941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30612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第三章 器件</a:t>
            </a:r>
            <a:r>
              <a:rPr lang="en-US" altLang="zh-CN" dirty="0"/>
              <a:t>&amp; </a:t>
            </a:r>
            <a:r>
              <a:rPr lang="zh-CN" altLang="en-US" dirty="0"/>
              <a:t>第四章 导线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151697"/>
            <a:ext cx="8739809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MOS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管各工作区的边界条件：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NMOS 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晶体管在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&gt; 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且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 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GS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− 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时工作在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线性区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；当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≥ 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GS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− 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时工作在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饱和区</a:t>
            </a:r>
            <a:endParaRPr lang="en-US" altLang="zh-CN" sz="18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PMOS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晶体管在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</a:t>
            </a:r>
            <a:r>
              <a:rPr lang="en-US" altLang="zh-CN" sz="18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SG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&gt; |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800" kern="100" baseline="-250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tp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</a:t>
            </a:r>
            <a:r>
              <a:rPr lang="en-US" altLang="zh-CN" sz="18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&lt; V</a:t>
            </a:r>
            <a:r>
              <a:rPr lang="en-US" altLang="zh-CN" sz="18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SG 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− |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800" kern="100" baseline="-250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tp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时工作在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线性</a:t>
            </a:r>
            <a:r>
              <a:rPr lang="zh-CN" altLang="zh-CN" sz="18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区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；当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</a:t>
            </a:r>
            <a:r>
              <a:rPr lang="en-US" altLang="zh-CN" sz="18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</a:t>
            </a:r>
            <a:r>
              <a:rPr lang="en-US" altLang="zh-CN" sz="1800" kern="100" baseline="-250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SG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− |</a:t>
            </a:r>
            <a:r>
              <a:rPr lang="en-US" altLang="zh-CN" sz="18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800" kern="100" baseline="-250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tp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时工作在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饱和</a:t>
            </a:r>
            <a:r>
              <a:rPr lang="zh-CN" altLang="zh-CN" sz="18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区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3109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第三章 器件</a:t>
            </a:r>
            <a:r>
              <a:rPr lang="en-US" altLang="zh-CN" dirty="0"/>
              <a:t>&amp; </a:t>
            </a:r>
            <a:r>
              <a:rPr lang="zh-CN" altLang="en-US" dirty="0"/>
              <a:t>第四章 导线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862137"/>
            <a:ext cx="8739809" cy="1123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</a:rPr>
              <a:t>计算传播延迟</a:t>
            </a:r>
            <a:r>
              <a:rPr lang="zh-CN" altLang="en-US" dirty="0"/>
              <a:t>：例如</a:t>
            </a:r>
            <a:r>
              <a:rPr lang="en-US" altLang="zh-CN" dirty="0"/>
              <a:t>NMOS</a:t>
            </a:r>
            <a:r>
              <a:rPr lang="zh-CN" altLang="en-US" dirty="0"/>
              <a:t>晶体管导通电阻</a:t>
            </a:r>
            <a:r>
              <a:rPr lang="en-US" altLang="zh-CN" dirty="0"/>
              <a:t>R</a:t>
            </a:r>
            <a:r>
              <a:rPr lang="en-US" altLang="zh-CN" baseline="-25000" dirty="0"/>
              <a:t>n</a:t>
            </a:r>
            <a:r>
              <a:rPr lang="en-US" altLang="zh-CN" dirty="0"/>
              <a:t> = 10kΩ</a:t>
            </a:r>
            <a:r>
              <a:rPr lang="zh-CN" altLang="en-US" dirty="0"/>
              <a:t>，负载电容</a:t>
            </a:r>
            <a:r>
              <a:rPr lang="en-US" altLang="zh-CN" dirty="0"/>
              <a:t>C</a:t>
            </a:r>
            <a:r>
              <a:rPr lang="en-US" altLang="zh-CN" baseline="-25000" dirty="0"/>
              <a:t>L</a:t>
            </a:r>
            <a:r>
              <a:rPr lang="en-US" altLang="zh-CN" dirty="0"/>
              <a:t> = 10fF</a:t>
            </a:r>
            <a:r>
              <a:rPr lang="zh-CN" altLang="en-US" dirty="0"/>
              <a:t>，估算反相器从高到低翻转的传播延迟</a:t>
            </a:r>
            <a:r>
              <a:rPr lang="en-US" altLang="zh-CN" dirty="0"/>
              <a:t>t</a:t>
            </a:r>
            <a:r>
              <a:rPr lang="en-US" altLang="zh-CN" baseline="-25000" dirty="0"/>
              <a:t>pHL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4E2E6D-649A-8188-1648-9B18F61DE728}"/>
              </a:ext>
            </a:extLst>
          </p:cNvPr>
          <p:cNvSpPr txBox="1"/>
          <p:nvPr/>
        </p:nvSpPr>
        <p:spPr>
          <a:xfrm>
            <a:off x="661283" y="2426166"/>
            <a:ext cx="7284720" cy="172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传播延迟估算公式：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8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pHL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≈ 0.69 × R</a:t>
            </a:r>
            <a:r>
              <a:rPr lang="en-US" altLang="zh-CN" sz="18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× C</a:t>
            </a:r>
            <a:r>
              <a:rPr lang="en-US" altLang="zh-CN" sz="18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zh-CN" altLang="zh-CN" sz="1800" baseline="-25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代入数值：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8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pHL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≈ 0.69 × 10^4 × 10^-14 s = 6.9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898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150432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第三章 器件</a:t>
            </a:r>
            <a:r>
              <a:rPr lang="en-US" altLang="zh-CN" dirty="0"/>
              <a:t>&amp; </a:t>
            </a:r>
            <a:r>
              <a:rPr lang="zh-CN" altLang="en-US" dirty="0"/>
              <a:t>第四章 导线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69185" y="795211"/>
            <a:ext cx="8605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计算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MOS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管电容：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例如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考虑一个具有如下参数的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NMOS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管：氧化层厚度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ox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=6nm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，沟道长度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L=0.24um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，栅宽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W=0.36um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，漏区长度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=0.625um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，源区长度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=0.625um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，单位长度的覆盖电容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-10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F/m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，单位面积底板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结结电容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j0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-3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F/m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，单位长度侧壁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结结电容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jsw0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=2.75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-10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F/m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。如果该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NMOS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的栅、源、漏和体都处于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偏置状态，则栅源端的覆盖电容为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，源端的扩散电容（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结电容）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A6F5F4-EF5E-1BFD-3EBD-C95E687DA118}"/>
              </a:ext>
            </a:extLst>
          </p:cNvPr>
          <p:cNvSpPr txBox="1"/>
          <p:nvPr/>
        </p:nvSpPr>
        <p:spPr>
          <a:xfrm>
            <a:off x="157370" y="2626864"/>
            <a:ext cx="8986630" cy="306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altLang="zh-CN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栅源端覆盖电容</a:t>
            </a:r>
            <a:r>
              <a:rPr lang="en-US" altLang="zh-CN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GS,cover</a:t>
            </a:r>
            <a:endParaRPr lang="zh-CN" altLang="zh-CN" baseline="-250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CN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GS,cover</a:t>
            </a:r>
            <a:r>
              <a:rPr lang="en-US" altLang="zh-CN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C</a:t>
            </a:r>
            <a:r>
              <a:rPr lang="en-US" altLang="zh-CN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 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×W= 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× 10⁻¹⁰ × 0.36 × 10⁻⁶=0.105fF</a:t>
            </a:r>
            <a:endParaRPr lang="zh-CN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Font typeface="+mj-lt"/>
              <a:buAutoNum type="arabicPeriod" startAt="2"/>
            </a:pP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源端扩散电容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S,diff</a:t>
            </a:r>
            <a:endParaRPr lang="zh-CN" altLang="zh-CN" baseline="-250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CN" sz="1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底板面积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</a:t>
            </a:r>
            <a:r>
              <a:rPr lang="en-US" altLang="zh-CN" sz="1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W × L</a:t>
            </a:r>
            <a:r>
              <a:rPr lang="en-US" altLang="zh-CN" sz="1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0.36 × 10⁻⁶ × 0.625 × 10⁻⁶ = 0.225 × 10⁻¹² m²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CN" sz="1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侧壁周长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</a:t>
            </a:r>
            <a:r>
              <a:rPr lang="en-US" altLang="zh-CN" sz="1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2 L</a:t>
            </a:r>
            <a:r>
              <a:rPr lang="en-US" altLang="zh-CN" sz="1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+W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2×0.625 +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0.36) × 10⁻⁶ = 1.61 × 10⁻⁶ m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CN" sz="1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1800" b="1" baseline="-250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S,diff</a:t>
            </a:r>
            <a:r>
              <a:rPr lang="en-US" altLang="zh-CN" sz="1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C</a:t>
            </a:r>
            <a:r>
              <a:rPr lang="en-US" altLang="zh-CN" sz="1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j0 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 A</a:t>
            </a:r>
            <a:r>
              <a:rPr lang="en-US" altLang="zh-CN" sz="1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C</a:t>
            </a:r>
            <a:r>
              <a:rPr lang="en-US" altLang="zh-CN" sz="1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jsw0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× P</a:t>
            </a:r>
            <a:r>
              <a:rPr lang="en-US" altLang="zh-CN" sz="1800" b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2 × 10⁻³ × 0.225 × 10⁻¹² + 2.75 × 10⁻¹⁰ × 1.61 × 10⁻⁶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4.5 × 10⁻¹⁶ + 4.4275 × 10⁻¹⁶= 0.89fF</a:t>
            </a:r>
            <a:endParaRPr lang="zh-CN" altLang="zh-CN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52E858-96FB-9420-450F-0C65FC26CDDE}"/>
              </a:ext>
            </a:extLst>
          </p:cNvPr>
          <p:cNvSpPr txBox="1"/>
          <p:nvPr/>
        </p:nvSpPr>
        <p:spPr>
          <a:xfrm>
            <a:off x="5994400" y="5505472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P75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46018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第三章 器件</a:t>
            </a:r>
            <a:r>
              <a:rPr lang="en-US" altLang="zh-CN" dirty="0"/>
              <a:t>&amp; </a:t>
            </a:r>
            <a:r>
              <a:rPr lang="zh-CN" altLang="en-US" dirty="0"/>
              <a:t>第四章 导线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98174" y="555119"/>
            <a:ext cx="8605630" cy="1640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计算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MOS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管沟道电流：例如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给定一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NMOS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器件：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W=10 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μm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L=0.25 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μm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=1.8 V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=1.8 V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=0.5 V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μ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ox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=200 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μA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/V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λ=0.1 V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−1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7970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忽略速度饱和效应以及考虑沟道长度调制效应，计算该器件的沟道电流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I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63396A-787F-9F41-7EE1-2E7FA97FEBAE}"/>
              </a:ext>
            </a:extLst>
          </p:cNvPr>
          <p:cNvSpPr txBox="1"/>
          <p:nvPr/>
        </p:nvSpPr>
        <p:spPr>
          <a:xfrm>
            <a:off x="366754" y="2315765"/>
            <a:ext cx="8091446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defRPr kern="10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1. </a:t>
            </a:r>
            <a:r>
              <a:rPr lang="en-US" altLang="zh-CN" dirty="0" err="1">
                <a:cs typeface="Times New Roman" panose="02020603050405020304" pitchFamily="18" charset="0"/>
              </a:rPr>
              <a:t>判断工作区间</a:t>
            </a:r>
            <a:endParaRPr lang="zh-CN" altLang="zh-CN" dirty="0">
              <a:cs typeface="Times New Roman" panose="02020603050405020304" pitchFamily="18" charset="0"/>
            </a:endParaRPr>
          </a:p>
          <a:p>
            <a:pPr marL="171450" lvl="1"/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V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DS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与 (V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GS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 V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的关系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lvl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DS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1.8 V，V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GS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V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1.8 - 0.5 = 1.3 V</a:t>
            </a:r>
            <a:endParaRPr lang="zh-CN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lvl="1"/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V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DS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V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GS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，器件工作在饱和区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1">
              <a:spcBef>
                <a:spcPts val="1200"/>
              </a:spcBef>
            </a:pPr>
            <a:r>
              <a:rPr lang="en-US" altLang="zh-CN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计算饱和区电流（含沟道长度调制）</a:t>
            </a:r>
          </a:p>
          <a:p>
            <a:pPr marL="171450" lvl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公式：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(1/2) * </a:t>
            </a:r>
            <a:r>
              <a:rPr lang="el-GR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μ</a:t>
            </a:r>
            <a:r>
              <a:rPr lang="en-US" altLang="zh-CN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ox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 (W/L) * (V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 V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)^2 * (1 + </a:t>
            </a:r>
            <a:r>
              <a:rPr lang="el-GR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λ *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lvl="1">
              <a:lnSpc>
                <a:spcPct val="100000"/>
              </a:lnSpc>
              <a:spcBef>
                <a:spcPts val="1200"/>
              </a:spcBef>
            </a:pPr>
            <a:r>
              <a:rPr lang="en-US" altLang="zh-CN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en-US" altLang="zh-CN" kern="1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代入数值计算</a:t>
            </a:r>
            <a:endParaRPr lang="zh-CN" altLang="zh-CN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W/L = 10×10⁻⁶ / 0.25×10⁻⁶ = 40</a:t>
            </a:r>
            <a:r>
              <a:rPr lang="zh-CN" altLang="en-US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(V</a:t>
            </a:r>
            <a:r>
              <a:rPr lang="en-US" altLang="zh-CN" sz="1800" baseline="-25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GS</a:t>
            </a:r>
            <a:r>
              <a:rPr lang="en-US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- V</a:t>
            </a:r>
            <a:r>
              <a:rPr lang="en-US" altLang="zh-CN" sz="1800" baseline="-25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TH</a:t>
            </a:r>
            <a:r>
              <a:rPr lang="en-US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)^2 = (1.3)^2 = 1.69</a:t>
            </a:r>
            <a:endParaRPr lang="zh-CN" altLang="zh-CN" sz="18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 + λ * V</a:t>
            </a:r>
            <a:r>
              <a:rPr lang="en-US" altLang="zh-CN" sz="1800" baseline="-25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DS</a:t>
            </a:r>
            <a:r>
              <a:rPr lang="en-US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= 1 + 0.1 * 1.8 = 1.18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</a:t>
            </a:r>
            <a:r>
              <a:rPr lang="en-US" altLang="zh-CN" sz="1800" baseline="-25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</a:t>
            </a:r>
            <a:r>
              <a:rPr lang="en-US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= 0.5 * 200×10⁻⁶ * 40 * 1.69 * 1.18   = 100×10⁻⁶ * 40 * 1.69 * 1.18</a:t>
            </a:r>
            <a:endParaRPr lang="zh-CN" altLang="zh-CN" sz="1800" dirty="0"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altLang="zh-CN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= 100×10⁻⁶ * 79.768 = 7.9768×10⁻³ A = 7.98 mA</a:t>
            </a:r>
            <a:endParaRPr lang="zh-CN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313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第五章 </a:t>
            </a:r>
            <a:r>
              <a:rPr lang="en-US" altLang="zh-CN" dirty="0"/>
              <a:t>CMOS</a:t>
            </a:r>
            <a:r>
              <a:rPr lang="zh-CN" altLang="en-US" dirty="0"/>
              <a:t>反相器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279580"/>
            <a:ext cx="8739809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反相器的工作原理、完整性、性能和能量指标的定量分析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反相器设计的优化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3860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06487" y="5963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第五章 </a:t>
            </a:r>
            <a:r>
              <a:rPr lang="en-US" altLang="zh-CN" dirty="0"/>
              <a:t>CMOS</a:t>
            </a:r>
            <a:r>
              <a:rPr lang="zh-CN" altLang="en-US" dirty="0"/>
              <a:t>反相器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146436" y="1143365"/>
            <a:ext cx="8739809" cy="253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反相器的电压传输特性曲线的中点通常定义为翻转点，其对应的输入电压称为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开关阈值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，在该点两管均处于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饱和区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反相器的电压传输特性曲线上，当输入电压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Vin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很低时，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PMOS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导通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NMOS 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关断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，输出电压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Vout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接近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电源电压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为了使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CMOS 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反相器具有对称的上升和下降延迟，通常需要调节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PMOS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NMOS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宽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长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比例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7880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06487" y="5963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第五章 </a:t>
            </a:r>
            <a:r>
              <a:rPr lang="en-US" altLang="zh-CN" dirty="0"/>
              <a:t>CMOS</a:t>
            </a:r>
            <a:r>
              <a:rPr lang="zh-CN" altLang="en-US" dirty="0"/>
              <a:t>反相器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115956" y="990965"/>
            <a:ext cx="8739809" cy="455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电路中的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弥勒效应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以及计算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弥勒电容的方法</a:t>
            </a:r>
            <a:endParaRPr lang="en-US" altLang="zh-CN" sz="18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AAF6B1-9FF3-F0C6-DFD5-D71F20AF9BB0}"/>
              </a:ext>
            </a:extLst>
          </p:cNvPr>
          <p:cNvSpPr txBox="1"/>
          <p:nvPr/>
        </p:nvSpPr>
        <p:spPr>
          <a:xfrm>
            <a:off x="190500" y="2092036"/>
            <a:ext cx="8473440" cy="2125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弥勒效应</a:t>
            </a:r>
            <a:r>
              <a:rPr lang="zh-CN" altLang="en-US" dirty="0"/>
              <a:t>是指当一个电容连接在放大器的输入和输出之间时，由于输出信号的反馈作用，该电容在输入端“看起来”被放大了，等效为一个更大的输入电容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CMOS</a:t>
            </a:r>
            <a:r>
              <a:rPr lang="zh-CN" altLang="en-US" dirty="0"/>
              <a:t>共源极放大器中，栅</a:t>
            </a:r>
            <a:r>
              <a:rPr lang="en-US" altLang="zh-CN" dirty="0"/>
              <a:t>-</a:t>
            </a:r>
            <a:r>
              <a:rPr lang="zh-CN" altLang="en-US" dirty="0"/>
              <a:t>漏间的寄生电容 𝐶</a:t>
            </a:r>
            <a:r>
              <a:rPr lang="zh-CN" altLang="en-US" baseline="-25000" dirty="0"/>
              <a:t>𝑔𝑑</a:t>
            </a:r>
            <a:r>
              <a:rPr lang="zh-CN" altLang="en-US" dirty="0"/>
              <a:t>会因弥勒效应对输入产生放大效应：</a:t>
            </a:r>
            <a:r>
              <a:rPr lang="zh-CN" altLang="en-US" dirty="0">
                <a:solidFill>
                  <a:srgbClr val="C00000"/>
                </a:solidFill>
              </a:rPr>
              <a:t>𝐶</a:t>
            </a:r>
            <a:r>
              <a:rPr lang="zh-CN" altLang="en-US" baseline="-25000" dirty="0">
                <a:solidFill>
                  <a:srgbClr val="C00000"/>
                </a:solidFill>
              </a:rPr>
              <a:t>𝑀𝑖𝑙𝑙𝑒𝑟</a:t>
            </a:r>
            <a:r>
              <a:rPr lang="en-US" altLang="zh-CN" dirty="0">
                <a:solidFill>
                  <a:srgbClr val="C00000"/>
                </a:solidFill>
              </a:rPr>
              <a:t>=</a:t>
            </a:r>
            <a:r>
              <a:rPr lang="zh-CN" altLang="en-US" dirty="0">
                <a:solidFill>
                  <a:srgbClr val="C00000"/>
                </a:solidFill>
              </a:rPr>
              <a:t>𝐶</a:t>
            </a:r>
            <a:r>
              <a:rPr lang="zh-CN" altLang="en-US" baseline="-25000" dirty="0">
                <a:solidFill>
                  <a:srgbClr val="C00000"/>
                </a:solidFill>
              </a:rPr>
              <a:t>𝑔𝑑</a:t>
            </a:r>
            <a:r>
              <a:rPr lang="zh-CN" altLang="en-US" dirty="0">
                <a:solidFill>
                  <a:srgbClr val="C00000"/>
                </a:solidFill>
              </a:rPr>
              <a:t>⋅</a:t>
            </a:r>
            <a:r>
              <a:rPr lang="en-US" altLang="zh-CN" dirty="0">
                <a:solidFill>
                  <a:srgbClr val="C00000"/>
                </a:solidFill>
              </a:rPr>
              <a:t>(1+∣</a:t>
            </a:r>
            <a:r>
              <a:rPr lang="zh-CN" altLang="en-US" dirty="0">
                <a:solidFill>
                  <a:srgbClr val="C00000"/>
                </a:solidFill>
              </a:rPr>
              <a:t>𝐴</a:t>
            </a:r>
            <a:r>
              <a:rPr lang="zh-CN" altLang="en-US" baseline="-25000" dirty="0">
                <a:solidFill>
                  <a:srgbClr val="C00000"/>
                </a:solidFill>
              </a:rPr>
              <a:t>𝑣</a:t>
            </a:r>
            <a:r>
              <a:rPr lang="zh-CN" altLang="en-US" dirty="0">
                <a:solidFill>
                  <a:srgbClr val="C00000"/>
                </a:solidFill>
              </a:rPr>
              <a:t>∣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zh-CN" altLang="en-US" dirty="0"/>
              <a:t>其中：𝐶</a:t>
            </a:r>
            <a:r>
              <a:rPr lang="zh-CN" altLang="en-US" baseline="-25000" dirty="0"/>
              <a:t>𝑔𝑑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r>
              <a:rPr lang="en-US" altLang="zh-CN" dirty="0"/>
              <a:t>MOS</a:t>
            </a:r>
            <a:r>
              <a:rPr lang="zh-CN" altLang="en-US" dirty="0"/>
              <a:t>晶体管的栅到漏极的寄生电容𝐴</a:t>
            </a:r>
            <a:r>
              <a:rPr lang="zh-CN" altLang="en-US" baseline="-25000" dirty="0"/>
              <a:t>𝑣</a:t>
            </a:r>
            <a:r>
              <a:rPr lang="zh-CN" altLang="en-US" dirty="0"/>
              <a:t>：放大器的电压增益𝐶</a:t>
            </a:r>
            <a:r>
              <a:rPr lang="zh-CN" altLang="en-US" baseline="-25000" dirty="0"/>
              <a:t>𝑀𝑖𝑙𝑙𝑒𝑟</a:t>
            </a:r>
            <a:r>
              <a:rPr lang="en-US" altLang="zh-CN" baseline="-25000" dirty="0"/>
              <a:t>​ </a:t>
            </a:r>
            <a:r>
              <a:rPr lang="zh-CN" altLang="en-US" dirty="0"/>
              <a:t>：等效加到输入端的“弥勒电容”</a:t>
            </a:r>
          </a:p>
        </p:txBody>
      </p:sp>
    </p:spTree>
    <p:extLst>
      <p:ext uri="{BB962C8B-B14F-4D97-AF65-F5344CB8AC3E}">
        <p14:creationId xmlns:p14="http://schemas.microsoft.com/office/powerpoint/2010/main" val="3675557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06487" y="5963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第五章 </a:t>
            </a:r>
            <a:r>
              <a:rPr lang="en-US" altLang="zh-CN" dirty="0"/>
              <a:t>CMOS</a:t>
            </a:r>
            <a:r>
              <a:rPr lang="zh-CN" altLang="en-US" dirty="0"/>
              <a:t>反相器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53616" y="772260"/>
            <a:ext cx="8902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反相器链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的最小传播延迟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：例如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如果其中每个反相器都是对称反相器，即同一个反相器具有相同的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pHL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800" kern="100" baseline="-25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pLH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，假设最小尺寸的反相器的本征传播延迟是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，并且每个反相器的输入电容与本征电容相同，即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，如果第一级反相器的输入电容为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，负载电容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=100C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，试计算整个链路的总等效扇出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，以及使该反相器链传播延迟最小时的等效扇出，以及整个链路的最小传播延迟。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B415F6-8690-B8F1-1121-257E58539B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9" t="20160" b="16045"/>
          <a:stretch/>
        </p:blipFill>
        <p:spPr bwMode="auto">
          <a:xfrm>
            <a:off x="5910083" y="-3227"/>
            <a:ext cx="3233917" cy="894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4D78BB1-48B7-3DE7-8DA3-3101CB4482DF}"/>
                  </a:ext>
                </a:extLst>
              </p:cNvPr>
              <p:cNvSpPr txBox="1"/>
              <p:nvPr/>
            </p:nvSpPr>
            <p:spPr>
              <a:xfrm>
                <a:off x="402590" y="2249588"/>
                <a:ext cx="7985760" cy="4055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1000"/>
                  </a:spcBef>
                  <a:buFont typeface="+mj-lt"/>
                  <a:buAutoNum type="arabicPeriod"/>
                </a:pPr>
                <a:r>
                  <a:rPr lang="en-US" altLang="zh-CN" sz="16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总等效扇出 F </a:t>
                </a:r>
                <a:r>
                  <a:rPr lang="en-US" altLang="zh-CN" sz="1600" b="1" dirty="0" err="1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的计算</a:t>
                </a:r>
                <a:endParaRPr lang="zh-CN" altLang="zh-CN" sz="1600" b="1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altLang="zh-CN" sz="160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等效扇出定义为链路总负载电容与最小反相器输入电容之比</a:t>
                </a: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zh-CN" altLang="zh-CN" sz="16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altLang="zh-CN" sz="16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 = C</a:t>
                </a:r>
                <a:r>
                  <a:rPr lang="en-US" altLang="zh-CN" sz="1600" b="1" baseline="-25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CN" sz="16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/ C</a:t>
                </a:r>
                <a:r>
                  <a:rPr lang="en-US" altLang="zh-CN" sz="1600" b="1" baseline="-25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g1 </a:t>
                </a: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 100C</a:t>
                </a:r>
                <a:r>
                  <a:rPr lang="en-US" altLang="zh-CN" sz="16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g1</a:t>
                </a: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/ C</a:t>
                </a:r>
                <a:r>
                  <a:rPr lang="en-US" altLang="zh-CN" sz="16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g1 </a:t>
                </a: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 100</a:t>
                </a:r>
              </a:p>
              <a:p>
                <a:pPr>
                  <a:spcAft>
                    <a:spcPts val="1000"/>
                  </a:spcAft>
                </a:pPr>
                <a:r>
                  <a:rPr lang="en-US" altLang="zh-CN" sz="16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2. </a:t>
                </a:r>
                <a:r>
                  <a:rPr lang="en-US" altLang="zh-CN" sz="1600" b="1" dirty="0" err="1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最优级数</a:t>
                </a:r>
                <a:r>
                  <a:rPr lang="en-US" altLang="zh-CN" sz="16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N </a:t>
                </a:r>
                <a:r>
                  <a:rPr lang="en-US" altLang="zh-CN" sz="1600" b="1" dirty="0" err="1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与最优等效扇出</a:t>
                </a:r>
                <a:r>
                  <a:rPr lang="en-US" altLang="zh-CN" sz="16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f</a:t>
                </a:r>
              </a:p>
              <a:p>
                <a:pPr>
                  <a:spcAft>
                    <a:spcPts val="1000"/>
                  </a:spcAft>
                </a:pPr>
                <a:r>
                  <a:rPr lang="zh-CN" alt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根据</a:t>
                </a:r>
                <a:r>
                  <a:rPr lang="el-GR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γ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=C</a:t>
                </a:r>
                <a:r>
                  <a:rPr lang="en-US" altLang="zh-CN" sz="1600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int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/C</a:t>
                </a:r>
                <a:r>
                  <a:rPr lang="en-US" altLang="zh-CN" sz="1600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=1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，得出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f=3.6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zh-CN" altLang="en-US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根据关系：</a:t>
                </a:r>
                <a:r>
                  <a:rPr lang="zh-CN" altLang="en-US" sz="16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𝐹</a:t>
                </a:r>
                <a:r>
                  <a:rPr lang="en-US" altLang="zh-CN" sz="16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16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𝑓</a:t>
                </a:r>
                <a:r>
                  <a:rPr lang="zh-CN" altLang="en-US" sz="1600" b="1" baseline="30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𝑁</a:t>
                </a:r>
                <a:r>
                  <a:rPr lang="zh-CN" altLang="en-US" sz="16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⇒𝑁</a:t>
                </a:r>
                <a:r>
                  <a:rPr lang="en-US" altLang="zh-CN" sz="16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1600" b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lnF</a:t>
                </a:r>
                <a:r>
                  <a:rPr lang="en-US" altLang="zh-CN" sz="16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/</a:t>
                </a:r>
                <a:r>
                  <a:rPr lang="en-US" altLang="zh-CN" sz="1600" b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lnf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=4.605/1.2809=3.595</a:t>
                </a:r>
                <a:endParaRPr lang="en-US" altLang="zh-CN" sz="16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这个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16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理论上的连续值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，实际反相器个数必须为整数 → 需要在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之间选择</a:t>
                </a:r>
                <a:endParaRPr lang="en-US" altLang="zh-CN" sz="16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altLang="zh-CN" sz="18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16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US" altLang="zh-CN" sz="1600" b="1" dirty="0" err="1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最小传播延迟计算</a:t>
                </a:r>
                <a:endParaRPr lang="zh-CN" altLang="zh-CN" sz="1600" b="1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zh-CN" altLang="en-US" sz="1600" b="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根据公式</a:t>
                </a:r>
                <a:r>
                  <a:rPr lang="en-US" altLang="zh-CN" sz="1600" b="1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="1" baseline="-25000" dirty="0" err="1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600" b="1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1600" b="1" dirty="0" err="1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Nt</a:t>
                </a:r>
                <a14:m>
                  <m:oMath xmlns:m="http://schemas.openxmlformats.org/officeDocument/2006/math">
                    <m:r>
                      <a:rPr lang="en-US" altLang="zh-CN" sz="1600" b="1" i="1" baseline="-25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𝒑</m:t>
                    </m:r>
                    <m:r>
                      <a:rPr lang="en-US" altLang="zh-CN" sz="1600" b="1" i="1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ad>
                      <m:radPr>
                        <m:ctrlPr>
                          <a:rPr lang="en-US" altLang="zh-CN" sz="16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CN" sz="16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𝑵</m:t>
                        </m:r>
                      </m:deg>
                      <m:e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</m:rad>
                    <m:r>
                      <m:rPr>
                        <m:nor/>
                      </m:rPr>
                      <a:rPr lang="en-US" altLang="zh-CN" sz="1600" b="1" i="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，计算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分别计算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N=3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的传播延迟</a:t>
                </a:r>
                <a:r>
                  <a:rPr lang="en-US" altLang="zh-CN" sz="1600" dirty="0" err="1"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aseline="-25000" dirty="0" err="1"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600" baseline="-250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600" baseline="-250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1600" baseline="-250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N=3</a:t>
                </a:r>
                <a:r>
                  <a:rPr lang="zh-CN" altLang="en-US" sz="16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600" b="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 t</a:t>
                </a:r>
                <a:r>
                  <a:rPr lang="en-US" altLang="zh-CN" sz="1600" b="0" baseline="-25000" dirty="0" err="1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600" b="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1600" b="0" dirty="0" err="1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Nt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1600" b="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(1+</m:t>
                    </m:r>
                    <m:rad>
                      <m:radPr>
                        <m:ctrlPr>
                          <a:rPr lang="en-US" altLang="zh-CN" sz="160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CN" sz="16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deg>
                      <m:e>
                        <m:r>
                          <a:rPr lang="en-US" altLang="zh-CN" sz="16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rad>
                    <m:r>
                      <m:rPr>
                        <m:nor/>
                      </m:rPr>
                      <a:rPr lang="en-US" altLang="zh-CN" sz="1600" b="0" i="0" dirty="0" smtClean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=3(1+</a:t>
                </a:r>
                <a:r>
                  <a:rPr lang="en-US" altLang="zh-CN" sz="16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deg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100</m:t>
                        </m:r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 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=16.9</a:t>
                </a:r>
                <a:r>
                  <a:rPr lang="en-US" altLang="zh-CN" sz="16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altLang="zh-CN" sz="1600" baseline="-25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N=4</a:t>
                </a:r>
                <a:r>
                  <a:rPr lang="zh-CN" altLang="en-US" sz="16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600" b="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b="0" dirty="0" err="1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600" b="0" baseline="-25000" dirty="0" err="1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600" b="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1600" b="0" dirty="0" err="1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Nt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1600" b="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(1+</m:t>
                    </m:r>
                    <m:rad>
                      <m:radPr>
                        <m:ctrlPr>
                          <a:rPr lang="en-US" altLang="zh-CN" sz="160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CN" sz="16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deg>
                      <m:e>
                        <m:r>
                          <a:rPr lang="en-US" altLang="zh-CN" sz="1600" b="0" i="1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rad>
                    <m:r>
                      <m:rPr>
                        <m:nor/>
                      </m:rPr>
                      <a:rPr lang="en-US" altLang="zh-CN" sz="1600" b="0" i="0" dirty="0" smtClean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=4(1+</a:t>
                </a:r>
                <a:r>
                  <a:rPr lang="en-US" altLang="zh-CN" sz="16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deg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100</m:t>
                        </m:r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16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 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=16.6</a:t>
                </a:r>
                <a:r>
                  <a:rPr lang="en-US" altLang="zh-CN" sz="16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CN" sz="1600" i="1" baseline="-250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altLang="zh-CN" sz="1600" baseline="-25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zh-CN" altLang="en-US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N=4</a:t>
                </a:r>
                <a:r>
                  <a:rPr lang="zh-CN" altLang="en-US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时，传播延迟最小，等于</a:t>
                </a:r>
                <a:r>
                  <a:rPr lang="en-US" altLang="zh-CN" sz="16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16.6t</a:t>
                </a:r>
                <a:r>
                  <a:rPr lang="en-US" altLang="zh-CN" sz="1600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p0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4D78BB1-48B7-3DE7-8DA3-3101CB448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90" y="2249588"/>
                <a:ext cx="7985760" cy="4055341"/>
              </a:xfrm>
              <a:prstGeom prst="rect">
                <a:avLst/>
              </a:prstGeom>
              <a:blipFill>
                <a:blip r:embed="rId3"/>
                <a:stretch>
                  <a:fillRect l="-611" t="-602" b="-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03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06487" y="5963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第五章 </a:t>
            </a:r>
            <a:r>
              <a:rPr lang="en-US" altLang="zh-CN" dirty="0"/>
              <a:t>CMOS</a:t>
            </a:r>
            <a:r>
              <a:rPr lang="zh-CN" altLang="en-US" dirty="0"/>
              <a:t>反相器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C30FC2-490A-963B-11E3-9B0882ADB7A5}"/>
              </a:ext>
            </a:extLst>
          </p:cNvPr>
          <p:cNvSpPr txBox="1"/>
          <p:nvPr/>
        </p:nvSpPr>
        <p:spPr>
          <a:xfrm>
            <a:off x="59966" y="941600"/>
            <a:ext cx="8902148" cy="879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</a:rPr>
              <a:t>反相器的动态功耗：</a:t>
            </a:r>
            <a:r>
              <a:rPr lang="zh-CN" altLang="en-US" dirty="0"/>
              <a:t>设反相器的输入为一个周期为</a:t>
            </a:r>
            <a:r>
              <a:rPr lang="en-US" altLang="zh-CN" dirty="0"/>
              <a:t>1ns</a:t>
            </a:r>
            <a:r>
              <a:rPr lang="zh-CN" altLang="en-US" dirty="0"/>
              <a:t>，占空比为</a:t>
            </a:r>
            <a:r>
              <a:rPr lang="en-US" altLang="zh-CN" dirty="0"/>
              <a:t>50%</a:t>
            </a:r>
            <a:r>
              <a:rPr lang="zh-CN" altLang="en-US" dirty="0"/>
              <a:t>的方波，负载电容为 </a:t>
            </a:r>
            <a:r>
              <a:rPr lang="en-US" altLang="zh-CN" dirty="0"/>
              <a:t>10fF</a:t>
            </a:r>
            <a:r>
              <a:rPr lang="zh-CN" altLang="en-US" dirty="0"/>
              <a:t>，</a:t>
            </a:r>
            <a:r>
              <a:rPr lang="en-US" altLang="zh-CN" dirty="0"/>
              <a:t>NMOS</a:t>
            </a:r>
            <a:r>
              <a:rPr lang="zh-CN" altLang="en-US" dirty="0"/>
              <a:t>电阻为 </a:t>
            </a:r>
            <a:r>
              <a:rPr lang="en-US" altLang="zh-CN" dirty="0"/>
              <a:t>2kΩ</a:t>
            </a:r>
            <a:r>
              <a:rPr lang="zh-CN" altLang="en-US" dirty="0"/>
              <a:t>，</a:t>
            </a:r>
            <a:r>
              <a:rPr lang="en-US" altLang="zh-CN" dirty="0"/>
              <a:t>PMOS</a:t>
            </a:r>
            <a:r>
              <a:rPr lang="zh-CN" altLang="en-US" dirty="0"/>
              <a:t>电阻为 </a:t>
            </a:r>
            <a:r>
              <a:rPr lang="en-US" altLang="zh-CN" dirty="0"/>
              <a:t>3kΩ</a:t>
            </a:r>
            <a:r>
              <a:rPr lang="zh-CN" altLang="en-US" dirty="0"/>
              <a:t>，求其动态功耗（</a:t>
            </a:r>
            <a:r>
              <a:rPr lang="en-US" altLang="zh-CN" dirty="0"/>
              <a:t>V</a:t>
            </a:r>
            <a:r>
              <a:rPr lang="en-US" altLang="zh-CN" baseline="-25000" dirty="0"/>
              <a:t>DD</a:t>
            </a:r>
            <a:r>
              <a:rPr lang="en-US" altLang="zh-CN" dirty="0"/>
              <a:t> = 1.2V</a:t>
            </a:r>
            <a:r>
              <a:rPr lang="zh-CN" altLang="en-US" dirty="0"/>
              <a:t>）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993408-F422-602D-6773-865C8B6FFFCF}"/>
              </a:ext>
            </a:extLst>
          </p:cNvPr>
          <p:cNvSpPr txBox="1"/>
          <p:nvPr/>
        </p:nvSpPr>
        <p:spPr>
          <a:xfrm>
            <a:off x="259080" y="1995577"/>
            <a:ext cx="8503920" cy="128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CMOS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电路的动态功耗主要由充放电电容导致的开关损耗决定，公式为：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𝑃</a:t>
            </a:r>
            <a:r>
              <a:rPr lang="zh-CN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𝑑𝑦𝑛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𝛼⋅𝑓⋅𝐶</a:t>
            </a:r>
            <a:r>
              <a:rPr lang="zh-CN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𝐿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⋅𝑉</a:t>
            </a:r>
            <a:r>
              <a:rPr lang="zh-CN" altLang="en-US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𝐷𝐷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​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其中：𝛼：开关因子（每个时钟周期平均切换次数）𝑓：输入信号频率𝐶</a:t>
            </a:r>
            <a:r>
              <a:rPr lang="zh-CN" altLang="en-US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𝐿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​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：负载电容𝑉</a:t>
            </a:r>
            <a:r>
              <a:rPr lang="zh-CN" altLang="en-US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𝐷𝐷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：供电电压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85747C-C462-68BC-ADC4-63BD1CD57C69}"/>
              </a:ext>
            </a:extLst>
          </p:cNvPr>
          <p:cNvSpPr txBox="1"/>
          <p:nvPr/>
        </p:nvSpPr>
        <p:spPr>
          <a:xfrm>
            <a:off x="259080" y="3456332"/>
            <a:ext cx="8618220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lnSpc>
                <a:spcPct val="150000"/>
              </a:lnSpc>
              <a:buFont typeface="+mj-lt"/>
              <a:buAutoNum type="arabicPeriod"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代入已知参数输入信号为周期为 </a:t>
            </a:r>
            <a:r>
              <a:rPr lang="en-US" altLang="zh-CN" dirty="0"/>
              <a:t>1ns</a:t>
            </a:r>
            <a:r>
              <a:rPr lang="zh-CN" altLang="en-US" dirty="0"/>
              <a:t>，占空比 </a:t>
            </a:r>
            <a:r>
              <a:rPr lang="en-US" altLang="zh-CN" dirty="0"/>
              <a:t>50% </a:t>
            </a:r>
            <a:r>
              <a:rPr lang="zh-CN" altLang="en-US" dirty="0"/>
              <a:t>的方波 → 每周期翻转 一次（上升或下降），即 𝛼</a:t>
            </a:r>
            <a:r>
              <a:rPr lang="en-US" altLang="zh-CN" dirty="0"/>
              <a:t>=1</a:t>
            </a:r>
            <a:r>
              <a:rPr lang="zh-CN" altLang="en-US" dirty="0"/>
              <a:t>，𝑓</a:t>
            </a:r>
            <a:r>
              <a:rPr lang="en-US" altLang="zh-CN" dirty="0"/>
              <a:t>=1 ns=10</a:t>
            </a:r>
            <a:r>
              <a:rPr lang="en-US" altLang="zh-CN" baseline="30000" dirty="0"/>
              <a:t>9</a:t>
            </a:r>
            <a:r>
              <a:rPr lang="en-US" altLang="zh-CN" dirty="0"/>
              <a:t> Hz</a:t>
            </a:r>
            <a:r>
              <a:rPr lang="zh-CN" altLang="en-US" dirty="0"/>
              <a:t>，𝐶</a:t>
            </a:r>
            <a:r>
              <a:rPr lang="zh-CN" altLang="en-US" baseline="-25000" dirty="0"/>
              <a:t>𝐿</a:t>
            </a:r>
            <a:r>
              <a:rPr lang="en-US" altLang="zh-CN" dirty="0"/>
              <a:t>=10×10</a:t>
            </a:r>
            <a:r>
              <a:rPr lang="en-US" altLang="zh-CN" baseline="30000" dirty="0"/>
              <a:t>−15 </a:t>
            </a:r>
            <a:r>
              <a:rPr lang="en-US" altLang="zh-CN" dirty="0"/>
              <a:t>F</a:t>
            </a:r>
            <a:r>
              <a:rPr lang="zh-CN" altLang="en-US" dirty="0"/>
              <a:t>，</a:t>
            </a:r>
            <a:r>
              <a:rPr lang="en-US" altLang="zh-CN" dirty="0"/>
              <a:t>V </a:t>
            </a:r>
            <a:r>
              <a:rPr lang="en-US" altLang="zh-CN" baseline="-25000" dirty="0"/>
              <a:t>DD​ </a:t>
            </a:r>
            <a:r>
              <a:rPr lang="en-US" altLang="zh-CN" dirty="0"/>
              <a:t>=1.2V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C9A5FA-0EB9-3761-E778-90C2FE4DF749}"/>
              </a:ext>
            </a:extLst>
          </p:cNvPr>
          <p:cNvSpPr txBox="1"/>
          <p:nvPr/>
        </p:nvSpPr>
        <p:spPr>
          <a:xfrm>
            <a:off x="259080" y="4845611"/>
            <a:ext cx="8328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代入公式：𝑃</a:t>
            </a:r>
            <a:r>
              <a:rPr lang="zh-CN" altLang="en-US" baseline="-25000" dirty="0"/>
              <a:t>𝑑𝑦𝑛</a:t>
            </a:r>
            <a:r>
              <a:rPr lang="en-US" altLang="zh-CN" dirty="0"/>
              <a:t>=1⋅10</a:t>
            </a:r>
            <a:r>
              <a:rPr lang="en-US" altLang="zh-CN" baseline="30000" dirty="0"/>
              <a:t>9</a:t>
            </a:r>
            <a:r>
              <a:rPr lang="en-US" altLang="zh-CN" dirty="0"/>
              <a:t>⋅10×10</a:t>
            </a:r>
            <a:r>
              <a:rPr lang="en-US" altLang="zh-CN" baseline="30000" dirty="0"/>
              <a:t>−15</a:t>
            </a:r>
            <a:r>
              <a:rPr lang="en-US" altLang="zh-CN" dirty="0"/>
              <a:t>⋅(1.2)</a:t>
            </a:r>
            <a:r>
              <a:rPr lang="en-US" altLang="zh-CN" baseline="30000" dirty="0"/>
              <a:t>2</a:t>
            </a:r>
            <a:r>
              <a:rPr lang="en-US" altLang="zh-CN" dirty="0"/>
              <a:t>=10</a:t>
            </a:r>
            <a:r>
              <a:rPr lang="en-US" altLang="zh-CN" baseline="30000" dirty="0"/>
              <a:t>−5</a:t>
            </a:r>
            <a:r>
              <a:rPr lang="en-US" altLang="zh-CN" dirty="0"/>
              <a:t>⋅1.44=1.44×10</a:t>
            </a:r>
            <a:r>
              <a:rPr lang="en-US" altLang="zh-CN" baseline="30000" dirty="0"/>
              <a:t>−5</a:t>
            </a:r>
            <a:r>
              <a:rPr lang="en-US" altLang="zh-CN" dirty="0"/>
              <a:t>=14.4uW</a:t>
            </a:r>
            <a:r>
              <a:rPr lang="en-US" altLang="zh-CN" baseline="30000" dirty="0"/>
              <a:t>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821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378971"/>
            <a:ext cx="8739809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静态和动态、传输管</a:t>
            </a:r>
            <a:r>
              <a:rPr lang="en-US" altLang="zh-CN" dirty="0"/>
              <a:t>/</a:t>
            </a:r>
            <a:r>
              <a:rPr lang="zh-CN" altLang="en-US" dirty="0"/>
              <a:t>传输门、无比和有比逻辑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优化逻辑门的面积、速度、能量和稳定性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017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158625"/>
            <a:ext cx="8739809" cy="4194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互补</a:t>
            </a:r>
            <a:r>
              <a:rPr lang="en-US" altLang="zh-CN" dirty="0"/>
              <a:t>CMOS</a:t>
            </a:r>
            <a:r>
              <a:rPr lang="zh-CN" altLang="en-US" dirty="0"/>
              <a:t>电路的功耗：</a:t>
            </a:r>
            <a:r>
              <a:rPr lang="zh-CN" altLang="en-US" dirty="0">
                <a:solidFill>
                  <a:srgbClr val="C00000"/>
                </a:solidFill>
              </a:rPr>
              <a:t>静态功耗，动态功耗和短路功耗</a:t>
            </a:r>
            <a:endParaRPr lang="en-US" altLang="zh-CN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逻辑电路依赖于两个阶段交替运行，分别为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预充电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阶段和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求值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阶段。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传输管逻辑中，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消除或减轻阈值电压损失有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电平恢复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多种阈值晶体管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传输门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等方法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在动态</a:t>
            </a:r>
            <a:r>
              <a:rPr lang="en-US" altLang="zh-CN" dirty="0"/>
              <a:t>CMOS</a:t>
            </a:r>
            <a:r>
              <a:rPr lang="zh-CN" altLang="en-US" dirty="0"/>
              <a:t>中，动态节点的电平由电容存储，因此容易受到</a:t>
            </a:r>
            <a:r>
              <a:rPr lang="zh-CN" altLang="en-US" dirty="0">
                <a:solidFill>
                  <a:srgbClr val="C00000"/>
                </a:solidFill>
              </a:rPr>
              <a:t>电荷泄露、电荷分享和电容耦合等</a:t>
            </a:r>
            <a:r>
              <a:rPr lang="zh-CN" altLang="en-US" dirty="0"/>
              <a:t>效应的影响而导致逻辑错误。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相比静态</a:t>
            </a:r>
            <a:r>
              <a:rPr lang="en-US" altLang="zh-CN" dirty="0"/>
              <a:t>CMOS</a:t>
            </a:r>
            <a:r>
              <a:rPr lang="zh-CN" altLang="en-US" dirty="0"/>
              <a:t>，动态</a:t>
            </a:r>
            <a:r>
              <a:rPr lang="en-US" altLang="zh-CN" dirty="0"/>
              <a:t>CMOS</a:t>
            </a:r>
            <a:r>
              <a:rPr lang="zh-CN" altLang="en-US" dirty="0"/>
              <a:t>电路通常使用</a:t>
            </a:r>
            <a:r>
              <a:rPr lang="zh-CN" altLang="en-US" dirty="0">
                <a:solidFill>
                  <a:srgbClr val="C00000"/>
                </a:solidFill>
              </a:rPr>
              <a:t>更少</a:t>
            </a:r>
            <a:r>
              <a:rPr lang="en-US" altLang="zh-CN" dirty="0">
                <a:solidFill>
                  <a:srgbClr val="C00000"/>
                </a:solidFill>
              </a:rPr>
              <a:t>PMOS</a:t>
            </a:r>
            <a:r>
              <a:rPr lang="zh-CN" altLang="en-US" dirty="0">
                <a:solidFill>
                  <a:srgbClr val="C00000"/>
                </a:solidFill>
              </a:rPr>
              <a:t>晶体管</a:t>
            </a:r>
            <a:r>
              <a:rPr lang="zh-CN" altLang="en-US" dirty="0"/>
              <a:t>，从而</a:t>
            </a:r>
            <a:r>
              <a:rPr lang="zh-CN" altLang="en-US" dirty="0">
                <a:solidFill>
                  <a:srgbClr val="C00000"/>
                </a:solidFill>
              </a:rPr>
              <a:t>减小了电容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提高了电路速度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伪</a:t>
            </a:r>
            <a:r>
              <a:rPr lang="en-US" altLang="zh-CN" dirty="0"/>
              <a:t>NMOS</a:t>
            </a:r>
            <a:r>
              <a:rPr lang="zh-CN" altLang="en-US" dirty="0"/>
              <a:t>电路相对于静态互补的</a:t>
            </a:r>
            <a:r>
              <a:rPr lang="en-US" altLang="zh-CN" dirty="0"/>
              <a:t>CMOS</a:t>
            </a:r>
            <a:r>
              <a:rPr lang="zh-CN" altLang="en-US" dirty="0"/>
              <a:t>电路：主要优点是</a:t>
            </a:r>
            <a:r>
              <a:rPr lang="zh-CN" altLang="en-US" dirty="0">
                <a:solidFill>
                  <a:srgbClr val="C00000"/>
                </a:solidFill>
              </a:rPr>
              <a:t>晶体管数目少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不足是静态功耗和不对称的响应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575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155335"/>
            <a:ext cx="8739809" cy="3363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为什么说静态 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CMOS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几乎没有静态功耗</a:t>
            </a:r>
            <a:endParaRPr lang="en-US" altLang="zh-CN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结构特点：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电路由互补的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晶体管组成。在静态稳态（电路不切换状态）时，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不会同时导通。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没有直通电流路径在输入信号稳定时，要么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导通，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截止；要么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导通，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PMOS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截止。这意味着从电源（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VDD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）到地（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GND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）之间不会形成直通电流路径，电流基本为零。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静态电流主要来自漏电流虽然晶体管存在漏电流，但其非常小，通常在纳安（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）甚至皮安（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）级别，对整体功耗影响极小。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721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873395"/>
            <a:ext cx="8739809" cy="455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相比于动态逻辑，</a:t>
            </a:r>
            <a:r>
              <a:rPr lang="zh-CN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静态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CMOS </a:t>
            </a:r>
            <a:r>
              <a:rPr lang="zh-CN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逻辑有哪些优点和缺点</a:t>
            </a:r>
            <a:endParaRPr lang="en-US" altLang="zh-CN" sz="18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794EF8-CC55-8A0D-D26D-09CD227C1646}"/>
              </a:ext>
            </a:extLst>
          </p:cNvPr>
          <p:cNvSpPr txBox="1"/>
          <p:nvPr/>
        </p:nvSpPr>
        <p:spPr>
          <a:xfrm>
            <a:off x="202095" y="1587546"/>
            <a:ext cx="8739809" cy="3789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静态 </a:t>
            </a:r>
            <a:r>
              <a:rPr lang="en-US" altLang="zh-CN" dirty="0"/>
              <a:t>CMOS </a:t>
            </a:r>
            <a:r>
              <a:rPr lang="zh-CN" altLang="en-US" dirty="0"/>
              <a:t>逻辑的优点：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低静态功耗静态：</a:t>
            </a:r>
            <a:r>
              <a:rPr lang="en-US" altLang="zh-CN" dirty="0"/>
              <a:t>CMOS</a:t>
            </a:r>
            <a:r>
              <a:rPr lang="zh-CN" altLang="en-US" dirty="0"/>
              <a:t>没有直流路径，只有极小的漏电流，静态功耗非常低；</a:t>
            </a:r>
            <a:r>
              <a:rPr lang="zh-CN" altLang="en-US" dirty="0">
                <a:solidFill>
                  <a:srgbClr val="C00000"/>
                </a:solidFill>
              </a:rPr>
              <a:t>设计简单、鲁棒性强电路结构简单：</a:t>
            </a:r>
            <a:r>
              <a:rPr lang="zh-CN" altLang="en-US" dirty="0"/>
              <a:t>容易设计和调试，抗噪声能力强，信号保持稳定；</a:t>
            </a:r>
            <a:r>
              <a:rPr lang="zh-CN" altLang="en-US" dirty="0">
                <a:solidFill>
                  <a:srgbClr val="C00000"/>
                </a:solidFill>
              </a:rPr>
              <a:t>信号完整性好：</a:t>
            </a:r>
            <a:r>
              <a:rPr lang="zh-CN" altLang="en-US" dirty="0"/>
              <a:t>输出信号稳定，不需要周期性刷新，适合需要保持状态的应用；</a:t>
            </a:r>
            <a:r>
              <a:rPr lang="zh-CN" altLang="en-US" dirty="0">
                <a:solidFill>
                  <a:srgbClr val="C00000"/>
                </a:solidFill>
              </a:rPr>
              <a:t>不需要时钟控制：</a:t>
            </a:r>
            <a:r>
              <a:rPr lang="zh-CN" altLang="en-US" dirty="0"/>
              <a:t>静态逻辑不依赖时钟，适用于组合逻辑电路。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静态 </a:t>
            </a:r>
            <a:r>
              <a:rPr lang="en-US" altLang="zh-CN" dirty="0"/>
              <a:t>CMOS </a:t>
            </a:r>
            <a:r>
              <a:rPr lang="zh-CN" altLang="en-US" dirty="0"/>
              <a:t>逻辑的缺点：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面积较大：</a:t>
            </a:r>
            <a:r>
              <a:rPr lang="zh-CN" altLang="en-US" dirty="0"/>
              <a:t>由于每个逻辑功能需要互补的</a:t>
            </a:r>
            <a:r>
              <a:rPr lang="en-US" altLang="zh-CN" dirty="0"/>
              <a:t>PMOS</a:t>
            </a:r>
            <a:r>
              <a:rPr lang="zh-CN" altLang="en-US" dirty="0"/>
              <a:t>和</a:t>
            </a:r>
            <a:r>
              <a:rPr lang="en-US" altLang="zh-CN" dirty="0"/>
              <a:t>NMOS</a:t>
            </a:r>
            <a:r>
              <a:rPr lang="zh-CN" altLang="en-US" dirty="0"/>
              <a:t>管，晶体管数量较多，芯片面积大；</a:t>
            </a:r>
            <a:r>
              <a:rPr lang="zh-CN" altLang="en-US" dirty="0">
                <a:solidFill>
                  <a:srgbClr val="C00000"/>
                </a:solidFill>
              </a:rPr>
              <a:t>速度较慢：</a:t>
            </a:r>
            <a:r>
              <a:rPr lang="zh-CN" altLang="en-US" dirty="0"/>
              <a:t>由于晶体管级数较多，传播延迟一般大于动态逻辑；</a:t>
            </a:r>
            <a:r>
              <a:rPr lang="zh-CN" altLang="en-US" dirty="0">
                <a:solidFill>
                  <a:srgbClr val="C00000"/>
                </a:solidFill>
              </a:rPr>
              <a:t>功耗在高频切换时较大：</a:t>
            </a:r>
            <a:r>
              <a:rPr lang="zh-CN" altLang="en-US" dirty="0"/>
              <a:t>虽然静态功耗低，但动态功耗随着开关频率升高会显著增加。</a:t>
            </a:r>
          </a:p>
        </p:txBody>
      </p:sp>
    </p:spTree>
    <p:extLst>
      <p:ext uri="{BB962C8B-B14F-4D97-AF65-F5344CB8AC3E}">
        <p14:creationId xmlns:p14="http://schemas.microsoft.com/office/powerpoint/2010/main" val="2688121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4" y="690515"/>
            <a:ext cx="8739809" cy="87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动态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CMOS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逻辑电路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与静态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CMOS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逻辑电路相比，有哪些主要优缺点？它们通常适用于哪些设计场景</a:t>
            </a:r>
            <a:endParaRPr lang="en-US" altLang="zh-CN" sz="18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2A52C86-1F3A-9DEE-9719-FF1CCE361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142965"/>
              </p:ext>
            </p:extLst>
          </p:nvPr>
        </p:nvGraphicFramePr>
        <p:xfrm>
          <a:off x="525780" y="1710273"/>
          <a:ext cx="7772400" cy="3117292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58330067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994174099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543139434"/>
                    </a:ext>
                  </a:extLst>
                </a:gridCol>
              </a:tblGrid>
              <a:tr h="139217">
                <a:tc>
                  <a:txBody>
                    <a:bodyPr/>
                    <a:lstStyle/>
                    <a:p>
                      <a:r>
                        <a:rPr lang="zh-CN" altLang="en-US" sz="1100"/>
                        <a:t>项目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动态</a:t>
                      </a:r>
                      <a:r>
                        <a:rPr lang="en-US" altLang="zh-CN" sz="1100"/>
                        <a:t>CMOS</a:t>
                      </a:r>
                      <a:r>
                        <a:rPr lang="zh-CN" altLang="en-US" sz="1100"/>
                        <a:t>逻辑电路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静态</a:t>
                      </a:r>
                      <a:r>
                        <a:rPr lang="en-US" altLang="zh-CN" sz="1100"/>
                        <a:t>CMOS</a:t>
                      </a:r>
                      <a:r>
                        <a:rPr lang="zh-CN" altLang="en-US" sz="1100"/>
                        <a:t>逻辑电路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488231"/>
                  </a:ext>
                </a:extLst>
              </a:tr>
              <a:tr h="347606"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电路结构</a:t>
                      </a:r>
                      <a:endParaRPr lang="zh-CN" altLang="en-US" sz="1100" dirty="0"/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依赖时钟周期控制，利用预充电和评估阶段进行工作。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互补的</a:t>
                      </a:r>
                      <a:r>
                        <a:rPr lang="en-US" altLang="zh-CN" sz="1100"/>
                        <a:t>PMOS</a:t>
                      </a:r>
                      <a:r>
                        <a:rPr lang="zh-CN" altLang="en-US" sz="1100"/>
                        <a:t>和</a:t>
                      </a:r>
                      <a:r>
                        <a:rPr lang="en-US" altLang="zh-CN" sz="1100"/>
                        <a:t>NMOS</a:t>
                      </a:r>
                      <a:r>
                        <a:rPr lang="zh-CN" altLang="en-US" sz="1100"/>
                        <a:t>网络构成，无需时钟控制。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007834"/>
                  </a:ext>
                </a:extLst>
              </a:tr>
              <a:tr h="243324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速度</a:t>
                      </a:r>
                      <a:endParaRPr lang="zh-CN" altLang="en-US" sz="1100"/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速度较快，传播延迟低，适合高速设计。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速度相对较慢，因晶体管较多，路径较长。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063091"/>
                  </a:ext>
                </a:extLst>
              </a:tr>
              <a:tr h="243324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面积</a:t>
                      </a:r>
                      <a:endParaRPr lang="zh-CN" altLang="en-US" sz="1100"/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芯片面积较小，晶体管数量少。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面积较大，晶体管数量多。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681337"/>
                  </a:ext>
                </a:extLst>
              </a:tr>
              <a:tr h="451888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功耗</a:t>
                      </a:r>
                      <a:endParaRPr lang="zh-CN" altLang="en-US" sz="1100"/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动态功耗低（频率低时），但存在周期性充电放电功耗，静态功耗较大。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静态功耗极低（无直流路径），动态功耗随开关频率增加。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298268"/>
                  </a:ext>
                </a:extLst>
              </a:tr>
              <a:tr h="347606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设计复杂度</a:t>
                      </a:r>
                      <a:endParaRPr lang="zh-CN" altLang="en-US" sz="1100"/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设计复杂，需要时钟同步和控制，且需考虑节点电荷泄漏和噪声。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设计简单，鲁棒性强，易于调试和维护。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458579"/>
                  </a:ext>
                </a:extLst>
              </a:tr>
              <a:tr h="347606"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信号稳定性</a:t>
                      </a:r>
                      <a:endParaRPr lang="zh-CN" altLang="en-US" sz="1100" dirty="0"/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信号保持时间有限，易受噪声干扰，需周期性刷新。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信号稳定，状态保持时间长。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065153"/>
                  </a:ext>
                </a:extLst>
              </a:tr>
              <a:tr h="243324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可靠性</a:t>
                      </a:r>
                      <a:endParaRPr lang="zh-CN" altLang="en-US" sz="1100"/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对工艺和环境变化敏感，可靠性较低。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可靠性高，稳定性好。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706270"/>
                  </a:ext>
                </a:extLst>
              </a:tr>
              <a:tr h="347606">
                <a:tc>
                  <a:txBody>
                    <a:bodyPr/>
                    <a:lstStyle/>
                    <a:p>
                      <a:r>
                        <a:rPr lang="zh-CN" altLang="en-US" sz="1100" b="1"/>
                        <a:t>适用场景</a:t>
                      </a:r>
                      <a:endParaRPr lang="zh-CN" altLang="en-US" sz="1100"/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/>
                        <a:t>超高速、高性能数字电路，如</a:t>
                      </a:r>
                      <a:r>
                        <a:rPr lang="en-US" altLang="zh-CN" sz="1100"/>
                        <a:t>CPU</a:t>
                      </a:r>
                      <a:r>
                        <a:rPr lang="zh-CN" altLang="en-US" sz="1100"/>
                        <a:t>高频算术单元、缓存等。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低功耗、中等速度应用，如微控制器、低频逻辑电路。</a:t>
                      </a:r>
                    </a:p>
                  </a:txBody>
                  <a:tcPr marL="55786" marR="55786" marT="27893" marB="278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19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A8CC6DD-479F-D3D9-72A6-35516FF8F03D}"/>
              </a:ext>
            </a:extLst>
          </p:cNvPr>
          <p:cNvSpPr txBox="1"/>
          <p:nvPr/>
        </p:nvSpPr>
        <p:spPr>
          <a:xfrm>
            <a:off x="369568" y="4844046"/>
            <a:ext cx="84048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适用场景总结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</a:rPr>
              <a:t>动态</a:t>
            </a:r>
            <a:r>
              <a:rPr lang="en-US" altLang="zh-CN" sz="1600" dirty="0">
                <a:solidFill>
                  <a:srgbClr val="C00000"/>
                </a:solidFill>
              </a:rPr>
              <a:t>CMOS</a:t>
            </a:r>
            <a:r>
              <a:rPr lang="zh-CN" altLang="en-US" sz="1600" dirty="0">
                <a:solidFill>
                  <a:srgbClr val="C00000"/>
                </a:solidFill>
              </a:rPr>
              <a:t>逻辑：</a:t>
            </a:r>
            <a:r>
              <a:rPr lang="zh-CN" altLang="en-US" sz="1600" dirty="0"/>
              <a:t>适合对速度和面积要求极高的高速数字电路，如高性能处理器的关键路径、高速缓存设计。但对设计技术要求高，且功耗和稳定性需权衡。</a:t>
            </a:r>
            <a:endParaRPr lang="en-US" altLang="zh-CN" sz="1600" dirty="0"/>
          </a:p>
          <a:p>
            <a:r>
              <a:rPr lang="zh-CN" altLang="en-US" sz="1600" dirty="0">
                <a:solidFill>
                  <a:srgbClr val="C00000"/>
                </a:solidFill>
              </a:rPr>
              <a:t>静态</a:t>
            </a:r>
            <a:r>
              <a:rPr lang="en-US" altLang="zh-CN" sz="1600" dirty="0">
                <a:solidFill>
                  <a:srgbClr val="C00000"/>
                </a:solidFill>
              </a:rPr>
              <a:t>CMOS</a:t>
            </a:r>
            <a:r>
              <a:rPr lang="zh-CN" altLang="en-US" sz="1600" dirty="0">
                <a:solidFill>
                  <a:srgbClr val="C00000"/>
                </a:solidFill>
              </a:rPr>
              <a:t>逻辑：</a:t>
            </a:r>
            <a:r>
              <a:rPr lang="zh-CN" altLang="en-US" sz="1600" dirty="0"/>
              <a:t>适合低功耗、易设计和高可靠性要求的场景，如低速控制逻辑、嵌入式系统和大多数组合逻辑。是目前绝大多数数字集成电路的主流选择。</a:t>
            </a:r>
          </a:p>
        </p:txBody>
      </p:sp>
    </p:spTree>
    <p:extLst>
      <p:ext uri="{BB962C8B-B14F-4D97-AF65-F5344CB8AC3E}">
        <p14:creationId xmlns:p14="http://schemas.microsoft.com/office/powerpoint/2010/main" val="2072008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722733"/>
            <a:ext cx="8739809" cy="87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比较静态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CMOS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pass-transistor logic</a:t>
            </a:r>
            <a:r>
              <a:rPr lang="zh-CN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PTL</a:t>
            </a:r>
            <a:r>
              <a:rPr lang="zh-CN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在晶体管数、功耗和逻辑电平保持方面的优劣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46D7F12-D5BD-6374-4E92-9734FA80F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046307"/>
              </p:ext>
            </p:extLst>
          </p:nvPr>
        </p:nvGraphicFramePr>
        <p:xfrm>
          <a:off x="280117" y="1735054"/>
          <a:ext cx="8583765" cy="3375626"/>
        </p:xfrm>
        <a:graphic>
          <a:graphicData uri="http://schemas.openxmlformats.org/drawingml/2006/table">
            <a:tbl>
              <a:tblPr/>
              <a:tblGrid>
                <a:gridCol w="2861255">
                  <a:extLst>
                    <a:ext uri="{9D8B030D-6E8A-4147-A177-3AD203B41FA5}">
                      <a16:colId xmlns:a16="http://schemas.microsoft.com/office/drawing/2014/main" val="616354815"/>
                    </a:ext>
                  </a:extLst>
                </a:gridCol>
                <a:gridCol w="2861255">
                  <a:extLst>
                    <a:ext uri="{9D8B030D-6E8A-4147-A177-3AD203B41FA5}">
                      <a16:colId xmlns:a16="http://schemas.microsoft.com/office/drawing/2014/main" val="711713859"/>
                    </a:ext>
                  </a:extLst>
                </a:gridCol>
                <a:gridCol w="2861255">
                  <a:extLst>
                    <a:ext uri="{9D8B030D-6E8A-4147-A177-3AD203B41FA5}">
                      <a16:colId xmlns:a16="http://schemas.microsoft.com/office/drawing/2014/main" val="3485834245"/>
                    </a:ext>
                  </a:extLst>
                </a:gridCol>
              </a:tblGrid>
              <a:tr h="185889">
                <a:tc>
                  <a:txBody>
                    <a:bodyPr/>
                    <a:lstStyle/>
                    <a:p>
                      <a:r>
                        <a:rPr lang="zh-CN" altLang="en-US" sz="1300"/>
                        <a:t>项目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静态 </a:t>
                      </a:r>
                      <a:r>
                        <a:rPr lang="en-US" sz="1300"/>
                        <a:t>CMOS </a:t>
                      </a:r>
                      <a:r>
                        <a:rPr lang="zh-CN" altLang="en-US" sz="1300"/>
                        <a:t>逻辑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传输门逻辑 </a:t>
                      </a:r>
                      <a:r>
                        <a:rPr lang="en-US" altLang="zh-CN" sz="1300"/>
                        <a:t>(</a:t>
                      </a:r>
                      <a:r>
                        <a:rPr lang="en-US" sz="1300"/>
                        <a:t>PTL)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186134"/>
                  </a:ext>
                </a:extLst>
              </a:tr>
              <a:tr h="464722">
                <a:tc>
                  <a:txBody>
                    <a:bodyPr/>
                    <a:lstStyle/>
                    <a:p>
                      <a:r>
                        <a:rPr lang="zh-CN" altLang="en-US" sz="1300" b="1"/>
                        <a:t>晶体管数</a:t>
                      </a:r>
                      <a:endParaRPr lang="zh-CN" altLang="en-US" sz="130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较多，每个逻辑功能需要完整的互补</a:t>
                      </a:r>
                      <a:r>
                        <a:rPr lang="en-US" altLang="zh-CN" sz="1300"/>
                        <a:t>PMOS</a:t>
                      </a:r>
                      <a:r>
                        <a:rPr lang="zh-CN" altLang="en-US" sz="1300"/>
                        <a:t>和</a:t>
                      </a:r>
                      <a:r>
                        <a:rPr lang="en-US" altLang="zh-CN" sz="1300"/>
                        <a:t>NMOS</a:t>
                      </a:r>
                      <a:r>
                        <a:rPr lang="zh-CN" altLang="en-US" sz="1300"/>
                        <a:t>网络。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较少，利用传输门或单个晶体管实现逻辑，晶体管数量节省。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169169"/>
                  </a:ext>
                </a:extLst>
              </a:tr>
              <a:tr h="464722">
                <a:tc>
                  <a:txBody>
                    <a:bodyPr/>
                    <a:lstStyle/>
                    <a:p>
                      <a:r>
                        <a:rPr lang="zh-CN" altLang="en-US" sz="1300" b="1"/>
                        <a:t>功耗</a:t>
                      </a:r>
                      <a:endParaRPr lang="zh-CN" altLang="en-US" sz="130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静态功耗极低，动态功耗随开关频率增加。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静态功耗低，但由于电平恢复问题，可能增加动态功耗。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29235"/>
                  </a:ext>
                </a:extLst>
              </a:tr>
              <a:tr h="464722">
                <a:tc>
                  <a:txBody>
                    <a:bodyPr/>
                    <a:lstStyle/>
                    <a:p>
                      <a:r>
                        <a:rPr lang="zh-CN" altLang="en-US" sz="1300" b="1"/>
                        <a:t>逻辑电平保持</a:t>
                      </a:r>
                      <a:endParaRPr lang="zh-CN" altLang="en-US" sz="130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逻辑电平保持良好，输出电平完整稳定。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逻辑电平可能出现衰减，存在电平降级问题，需加缓冲恢复。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063540"/>
                  </a:ext>
                </a:extLst>
              </a:tr>
              <a:tr h="464722">
                <a:tc>
                  <a:txBody>
                    <a:bodyPr/>
                    <a:lstStyle/>
                    <a:p>
                      <a:r>
                        <a:rPr lang="zh-CN" altLang="en-US" sz="1300" b="1"/>
                        <a:t>电平完整性</a:t>
                      </a:r>
                      <a:endParaRPr lang="zh-CN" altLang="en-US" sz="130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输出电平完整，满足电压摆幅要求。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传输门经过多个级联后电平会下降，易出现阈值丢失。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343603"/>
                  </a:ext>
                </a:extLst>
              </a:tr>
              <a:tr h="325306">
                <a:tc>
                  <a:txBody>
                    <a:bodyPr/>
                    <a:lstStyle/>
                    <a:p>
                      <a:r>
                        <a:rPr lang="zh-CN" altLang="en-US" sz="1300" b="1"/>
                        <a:t>速度</a:t>
                      </a:r>
                      <a:endParaRPr lang="zh-CN" altLang="en-US" sz="130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速度适中，结构较复杂导致延迟稍大。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速度较快，晶体管数少，开关速度快。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073069"/>
                  </a:ext>
                </a:extLst>
              </a:tr>
              <a:tr h="325306">
                <a:tc>
                  <a:txBody>
                    <a:bodyPr/>
                    <a:lstStyle/>
                    <a:p>
                      <a:r>
                        <a:rPr lang="zh-CN" altLang="en-US" sz="1300" b="1"/>
                        <a:t>设计复杂度</a:t>
                      </a:r>
                      <a:endParaRPr lang="zh-CN" altLang="en-US" sz="130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/>
                        <a:t>设计相对简单，易于分析和调试。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设计复杂度高，需要考虑电平恢复和噪声问题。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938495"/>
                  </a:ext>
                </a:extLst>
              </a:tr>
              <a:tr h="325306">
                <a:tc>
                  <a:txBody>
                    <a:bodyPr/>
                    <a:lstStyle/>
                    <a:p>
                      <a:r>
                        <a:rPr lang="zh-CN" altLang="en-US" sz="1300" b="1"/>
                        <a:t>适用场景</a:t>
                      </a:r>
                      <a:endParaRPr lang="zh-CN" altLang="en-US" sz="130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/>
                        <a:t>通用数字电路，要求稳定可靠的逻辑功能。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/>
                        <a:t>低面积和高速需求场景，但需电平恢复电路辅助。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56596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108C8D9-F18D-F5DD-E753-BB41704CDD65}"/>
              </a:ext>
            </a:extLst>
          </p:cNvPr>
          <p:cNvSpPr txBox="1"/>
          <p:nvPr/>
        </p:nvSpPr>
        <p:spPr>
          <a:xfrm>
            <a:off x="202095" y="5143230"/>
            <a:ext cx="8661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总结：</a:t>
            </a:r>
            <a:r>
              <a:rPr lang="en-US" altLang="zh-CN" dirty="0">
                <a:solidFill>
                  <a:srgbClr val="C00000"/>
                </a:solidFill>
              </a:rPr>
              <a:t>PTL</a:t>
            </a:r>
            <a:r>
              <a:rPr lang="zh-CN" altLang="en-US" dirty="0">
                <a:solidFill>
                  <a:srgbClr val="C00000"/>
                </a:solidFill>
              </a:rPr>
              <a:t>的优点</a:t>
            </a:r>
            <a:r>
              <a:rPr lang="zh-CN" altLang="en-US" dirty="0"/>
              <a:t>是晶体管数较少，适合面积和功耗敏感的高速电路设计，但电平衰减问题限制了其级联深度和稳定性。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静态</a:t>
            </a:r>
            <a:r>
              <a:rPr lang="en-US" altLang="zh-CN" dirty="0">
                <a:solidFill>
                  <a:srgbClr val="C00000"/>
                </a:solidFill>
              </a:rPr>
              <a:t>CMOS</a:t>
            </a:r>
            <a:r>
              <a:rPr lang="zh-CN" altLang="en-US" dirty="0"/>
              <a:t>由于输出电平完整且稳健，是主流的数字电路设计方案，尤其适合大规模集成电路。</a:t>
            </a:r>
          </a:p>
        </p:txBody>
      </p:sp>
    </p:spTree>
    <p:extLst>
      <p:ext uri="{BB962C8B-B14F-4D97-AF65-F5344CB8AC3E}">
        <p14:creationId xmlns:p14="http://schemas.microsoft.com/office/powerpoint/2010/main" val="2935368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247415"/>
            <a:ext cx="87398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6250" indent="-342900" algn="just">
              <a:buFont typeface="+mj-lt"/>
              <a:buAutoNum type="arabicPeriod" startAt="9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两个逻辑等价的表达式：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>
              <a:buSzPts val="1000"/>
              <a:tabLst>
                <a:tab pos="457200" algn="l"/>
              </a:tabLst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F₁ = (A·B + A·C)’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>
              <a:buSzPts val="1000"/>
              <a:tabLst>
                <a:tab pos="457200" algn="l"/>
              </a:tabLst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F₂ = (A·(B + C))’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对应的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CMOS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门实现结构不同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画出两种逻辑的电路结构，判断哪一种在面积和延迟上更优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6DF811-64AB-6AD3-D125-1ABD3FAEE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152" y="2552700"/>
            <a:ext cx="1668083" cy="3429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FEA91B-28A7-329F-194B-09E9B61E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661" y="2552700"/>
            <a:ext cx="1492989" cy="3429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1C5BADD-BD57-6F6E-67C5-60F589973340}"/>
              </a:ext>
            </a:extLst>
          </p:cNvPr>
          <p:cNvSpPr txBox="1"/>
          <p:nvPr/>
        </p:nvSpPr>
        <p:spPr>
          <a:xfrm>
            <a:off x="5605737" y="3810092"/>
            <a:ext cx="306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的晶体管数目更少，所以在面积和延迟上更优</a:t>
            </a:r>
          </a:p>
        </p:txBody>
      </p:sp>
    </p:spTree>
    <p:extLst>
      <p:ext uri="{BB962C8B-B14F-4D97-AF65-F5344CB8AC3E}">
        <p14:creationId xmlns:p14="http://schemas.microsoft.com/office/powerpoint/2010/main" val="460305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907165"/>
            <a:ext cx="8739809" cy="87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差分串联电压开关逻辑（</a:t>
            </a:r>
            <a:r>
              <a:rPr lang="en-US" altLang="zh-CN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DCVSL</a:t>
            </a:r>
            <a:r>
              <a:rPr lang="zh-CN" altLang="zh-CN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与伪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NMOS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电路对比有何优点，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能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画出</a:t>
            </a:r>
            <a:r>
              <a:rPr lang="en-US" altLang="zh-CN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AND/NAD</a:t>
            </a:r>
            <a:r>
              <a:rPr lang="zh-CN" altLang="zh-CN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差分串联电压开关逻辑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电路图</a:t>
            </a:r>
            <a:endParaRPr lang="en-US" altLang="zh-CN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968D0A-444D-0F07-3919-A17BDF7AF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842" y="2275143"/>
            <a:ext cx="3769062" cy="30614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AC418C4-17FE-1EDC-4FFE-77D62C7DC6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49"/>
          <a:stretch/>
        </p:blipFill>
        <p:spPr>
          <a:xfrm>
            <a:off x="92579" y="2679741"/>
            <a:ext cx="4972037" cy="225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75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907165"/>
            <a:ext cx="8739809" cy="455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设计一个实现逻辑函数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 = ((A + B) · CD)’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的静态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CMOS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逻辑门电路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47F8A1-DE14-0FF5-569A-0A4FB1C3E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636" y="1714479"/>
            <a:ext cx="2915057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6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819698"/>
            <a:ext cx="8739809" cy="463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画电路图：</a:t>
            </a:r>
            <a:r>
              <a:rPr lang="en-US" altLang="zh-CN" dirty="0"/>
              <a:t>CMOS </a:t>
            </a:r>
            <a:r>
              <a:rPr lang="zh-CN" altLang="en-US" dirty="0"/>
              <a:t>传输门实现一个 </a:t>
            </a:r>
            <a:r>
              <a:rPr lang="en-US" altLang="zh-CN" dirty="0"/>
              <a:t>2 </a:t>
            </a:r>
            <a:r>
              <a:rPr lang="zh-CN" altLang="en-US" dirty="0"/>
              <a:t>输入异或门（</a:t>
            </a:r>
            <a:r>
              <a:rPr lang="en-US" altLang="zh-CN" dirty="0"/>
              <a:t>XOR</a:t>
            </a:r>
            <a:r>
              <a:rPr lang="zh-CN" altLang="en-US" dirty="0"/>
              <a:t>：</a:t>
            </a:r>
            <a:r>
              <a:rPr lang="en-US" altLang="zh-CN" dirty="0"/>
              <a:t>F = A ⊕ B</a:t>
            </a:r>
            <a:r>
              <a:rPr lang="zh-CN" altLang="en-US" dirty="0"/>
              <a:t>），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9B1589-15D4-A346-47FD-84727E7B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579" y="1403870"/>
            <a:ext cx="4530090" cy="29687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FBCF3D-79A0-6337-4C42-F5CAAB2E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85" y="4253931"/>
            <a:ext cx="6522480" cy="54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EB9D95-6129-22A7-3F2A-897859CF4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785" y="4914130"/>
            <a:ext cx="5971455" cy="54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27F834-B4CA-6187-69F0-728AB55FF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9942" y="5574329"/>
            <a:ext cx="2884736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5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pic>
        <p:nvPicPr>
          <p:cNvPr id="3" name="图片 2" descr="图示, 示意图&#10;&#10;AI 生成的内容可能不正确。">
            <a:extLst>
              <a:ext uri="{FF2B5EF4-FFF2-40B4-BE49-F238E27FC236}">
                <a16:creationId xmlns:a16="http://schemas.microsoft.com/office/drawing/2014/main" id="{EF9EED2B-51BF-147C-51CE-6FBF713793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470"/>
          <a:stretch/>
        </p:blipFill>
        <p:spPr bwMode="auto">
          <a:xfrm>
            <a:off x="5261611" y="1432118"/>
            <a:ext cx="3564889" cy="21631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C307C7A-6E11-9301-A87F-7CD167631858}"/>
              </a:ext>
            </a:extLst>
          </p:cNvPr>
          <p:cNvSpPr txBox="1"/>
          <p:nvPr/>
        </p:nvSpPr>
        <p:spPr>
          <a:xfrm>
            <a:off x="92074" y="715486"/>
            <a:ext cx="88138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一个四输入的与非门的电路图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及其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等效电路模型。其中，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=0.85fF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=0.85fF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=0.85fF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=3.47fF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。下拉网络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NMOS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的等效电阻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=R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=R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=R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=10K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Ω，试计算输出节点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由高至低的传播延时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800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pHL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626789-B9B0-A110-0164-6F538D3C0E37}"/>
              </a:ext>
            </a:extLst>
          </p:cNvPr>
          <p:cNvSpPr txBox="1"/>
          <p:nvPr/>
        </p:nvSpPr>
        <p:spPr>
          <a:xfrm>
            <a:off x="317500" y="2781066"/>
            <a:ext cx="539115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</a:rPr>
              <a:t>pHL</a:t>
            </a:r>
            <a:r>
              <a:rPr lang="en-US" altLang="zh-CN" b="1" dirty="0">
                <a:solidFill>
                  <a:srgbClr val="FF0000"/>
                </a:solidFill>
              </a:rPr>
              <a:t>=0.69R</a:t>
            </a:r>
            <a:r>
              <a:rPr lang="en-US" altLang="zh-CN" b="1" baseline="-25000" dirty="0">
                <a:solidFill>
                  <a:srgbClr val="FF0000"/>
                </a:solidFill>
              </a:rPr>
              <a:t>n</a:t>
            </a:r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rgbClr val="FF0000"/>
                </a:solidFill>
              </a:rPr>
              <a:t>+2·C</a:t>
            </a:r>
            <a:r>
              <a:rPr lang="en-US" altLang="zh-CN" b="1" baseline="-25000" dirty="0">
                <a:solidFill>
                  <a:srgbClr val="FF0000"/>
                </a:solidFill>
              </a:rPr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+3·C</a:t>
            </a:r>
            <a:r>
              <a:rPr lang="en-US" altLang="zh-CN" b="1" baseline="-25000" dirty="0">
                <a:solidFill>
                  <a:srgbClr val="FF0000"/>
                </a:solidFill>
              </a:rPr>
              <a:t>3</a:t>
            </a:r>
            <a:r>
              <a:rPr lang="en-US" altLang="zh-CN" b="1" dirty="0">
                <a:solidFill>
                  <a:srgbClr val="FF0000"/>
                </a:solidFill>
              </a:rPr>
              <a:t>+4·C</a:t>
            </a:r>
            <a:r>
              <a:rPr lang="en-US" altLang="zh-CN" b="1" baseline="-25000" dirty="0">
                <a:solidFill>
                  <a:srgbClr val="FF0000"/>
                </a:solidFill>
              </a:rPr>
              <a:t>L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=0.69x10x10</a:t>
            </a:r>
            <a:r>
              <a:rPr lang="en-US" altLang="zh-CN" baseline="30000" dirty="0"/>
              <a:t>3</a:t>
            </a:r>
            <a:r>
              <a:rPr lang="en-US" altLang="zh-CN" dirty="0"/>
              <a:t>x(0.85+2x0.85+3x0.85+4x3.47)x10</a:t>
            </a:r>
            <a:r>
              <a:rPr lang="en-US" altLang="zh-CN" baseline="30000" dirty="0"/>
              <a:t>-15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=0.69x10x(0.85+1.7+2.55+13.88) x10</a:t>
            </a:r>
            <a:r>
              <a:rPr lang="en-US" altLang="zh-CN" baseline="30000" dirty="0"/>
              <a:t>-15</a:t>
            </a:r>
            <a:r>
              <a:rPr lang="en-US" altLang="zh-CN" dirty="0"/>
              <a:t>=130.962ps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7972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第七章 时序逻辑电路设计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202095" y="1378971"/>
            <a:ext cx="8739809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时序电路参数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寄存器、锁存器、触发器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静态实现与动态实现比较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4833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0902DD-3798-F068-CA2F-47F79E7ECFB7}"/>
              </a:ext>
            </a:extLst>
          </p:cNvPr>
          <p:cNvSpPr txBox="1"/>
          <p:nvPr/>
        </p:nvSpPr>
        <p:spPr>
          <a:xfrm>
            <a:off x="2239617" y="245165"/>
            <a:ext cx="412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第六章 </a:t>
            </a:r>
            <a:r>
              <a:rPr lang="en-US" altLang="zh-CN" dirty="0"/>
              <a:t>CMOS</a:t>
            </a:r>
            <a:r>
              <a:rPr lang="zh-CN" altLang="en-US" dirty="0"/>
              <a:t>组合逻辑门的设计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618E66-1FC5-C29D-8964-983D4E8E58C7}"/>
              </a:ext>
            </a:extLst>
          </p:cNvPr>
          <p:cNvSpPr txBox="1"/>
          <p:nvPr/>
        </p:nvSpPr>
        <p:spPr>
          <a:xfrm>
            <a:off x="164547" y="1369556"/>
            <a:ext cx="8814905" cy="2840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与组合逻辑不同，时序逻辑电路的输出不仅取决于当前输入，</a:t>
            </a:r>
            <a:r>
              <a:rPr lang="zh-CN" altLang="zh-CN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还取决于</a:t>
            </a:r>
            <a:r>
              <a:rPr lang="zh-CN" altLang="en-US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原先</a:t>
            </a: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的输入</a:t>
            </a:r>
            <a:endParaRPr lang="en-US" altLang="zh-CN" sz="18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/>
              <a:t>D</a:t>
            </a:r>
            <a:r>
              <a:rPr lang="zh-CN" altLang="en-US" dirty="0"/>
              <a:t>触发器在时钟上升沿采样数据，要求输入在采样前至少在 </a:t>
            </a:r>
            <a:r>
              <a:rPr lang="zh-CN" altLang="en-US" dirty="0">
                <a:solidFill>
                  <a:srgbClr val="C00000"/>
                </a:solidFill>
              </a:rPr>
              <a:t>建立时间</a:t>
            </a:r>
            <a:r>
              <a:rPr lang="zh-CN" altLang="en-US" dirty="0"/>
              <a:t>保持稳定，在采样后至少</a:t>
            </a:r>
            <a:r>
              <a:rPr lang="zh-CN" altLang="en-US" dirty="0">
                <a:solidFill>
                  <a:srgbClr val="C00000"/>
                </a:solidFill>
              </a:rPr>
              <a:t>保持时间</a:t>
            </a:r>
            <a:r>
              <a:rPr lang="zh-CN" altLang="en-US" dirty="0"/>
              <a:t>内不变。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CN" altLang="en-US" sz="18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寄存器和锁存器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的主要区别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锁存器是电平敏感的存储器件，透明性依赖于使能信号的电平。寄存器通常由触发器组成，是边沿触发的存储器件，仅在时钟边沿采样。</a:t>
            </a:r>
            <a:endParaRPr lang="en-US" altLang="zh-CN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9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65889</TotalTime>
  <Words>3268</Words>
  <Application>Microsoft Office PowerPoint</Application>
  <PresentationFormat>全屏显示(4:3)</PresentationFormat>
  <Paragraphs>210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宋体</vt:lpstr>
      <vt:lpstr>Arial</vt:lpstr>
      <vt:lpstr>Calibri</vt:lpstr>
      <vt:lpstr>Calibri Light</vt:lpstr>
      <vt:lpstr>Cambria Math</vt:lpstr>
      <vt:lpstr>Times New Roman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微电子专家简介 </dc:title>
  <dc:creator>Zhizhong wang</dc:creator>
  <cp:lastModifiedBy>zhangshengli</cp:lastModifiedBy>
  <cp:revision>1876</cp:revision>
  <dcterms:created xsi:type="dcterms:W3CDTF">2021-03-19T13:14:16Z</dcterms:created>
  <dcterms:modified xsi:type="dcterms:W3CDTF">2025-06-18T07:18:27Z</dcterms:modified>
</cp:coreProperties>
</file>